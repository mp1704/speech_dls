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8" name="Shape 16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e-up of the top of a hot air balloon viewed from above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hot air balloon viewed from below"/>
          <p:cNvSpPr/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Hot air balloons viewed from below against a blue sky"/>
          <p:cNvSpPr/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Hot air balloons viewed from below against a blue sky"/>
          <p:cNvSpPr/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Close-up of the top of a hot air balloon viewed from above"/>
          <p:cNvSpPr/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Hot air balloons viewed from below against a blue sky"/>
          <p:cNvSpPr/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Hot air balloons viewed from below against a blue sky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170"/>
            </a:lvl1pPr>
          </a:lstStyle>
          <a:p>
            <a:pPr/>
            <a:r>
              <a:t>Slide Title</a:t>
            </a:r>
          </a:p>
        </p:txBody>
      </p:sp>
      <p:sp>
        <p:nvSpPr>
          <p:cNvPr id="150" name="Body Level One…"/>
          <p:cNvSpPr txBox="1"/>
          <p:nvPr>
            <p:ph type="body" sz="quarter" idx="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Body Level One…"/>
          <p:cNvSpPr txBox="1"/>
          <p:nvPr>
            <p:ph type="body" sz="quarter" idx="1" hasCustomPrompt="1"/>
          </p:nvPr>
        </p:nvSpPr>
        <p:spPr>
          <a:xfrm>
            <a:off x="1201340" y="11847162"/>
            <a:ext cx="21971004" cy="63698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>
                <a:solidFill>
                  <a:srgbClr val="FFFFFF"/>
                </a:solidFill>
              </a:defRPr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>
                <a:solidFill>
                  <a:srgbClr val="FFFFFF"/>
                </a:solidFill>
              </a:defRPr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>
                <a:solidFill>
                  <a:srgbClr val="FFFFFF"/>
                </a:solidFill>
              </a:defRPr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>
                <a:solidFill>
                  <a:srgbClr val="FFFFFF"/>
                </a:solidFill>
              </a:defRPr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59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 defTabSz="2438337"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60" name="Body Level One…"/>
          <p:cNvSpPr txBox="1"/>
          <p:nvPr>
            <p:ph type="body" sz="quarter" idx="21" hasCustomPrompt="1"/>
          </p:nvPr>
        </p:nvSpPr>
        <p:spPr>
          <a:xfrm>
            <a:off x="1201342" y="7210490"/>
            <a:ext cx="21971002" cy="190500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</a:lstStyle>
          <a:p>
            <a:pPr/>
            <a:r>
              <a:t>Presentation Subtitle</a:t>
            </a:r>
          </a:p>
        </p:txBody>
      </p:sp>
      <p:sp>
        <p:nvSpPr>
          <p:cNvPr id="161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4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7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.png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.png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.png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.png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.png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.png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.png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.png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/Relationships>
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9.png"/></Relationships>
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0.png"/></Relationships>
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1.png"/></Relationships>
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1.png"/></Relationships>
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1.png"/></Relationships>
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1.png"/></Relationships>
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1.png"/></Relationships>
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1.png"/></Relationships>
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1.png"/></Relationships>
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1.png"/></Relationships>
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1.png"/></Relationships>
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1.png"/></Relationships>

</file>

<file path=ppt/slides/_rels/slide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1.png"/></Relationships>
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1.png"/></Relationships>
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1.png"/></Relationships>
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1.png"/></Relationships>
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1.png"/></Relationships>

</file>

<file path=ppt/slides/_rels/slide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1.png"/></Relationships>
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1.png"/></Relationships>
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Апарин Георгий"/>
          <p:cNvSpPr txBox="1"/>
          <p:nvPr>
            <p:ph type="body" sz="quarter" idx="1"/>
          </p:nvPr>
        </p:nvSpPr>
        <p:spPr>
          <a:xfrm>
            <a:off x="1201341" y="11847162"/>
            <a:ext cx="21971002" cy="636980"/>
          </a:xfrm>
          <a:prstGeom prst="rect">
            <a:avLst/>
          </a:prstGeom>
        </p:spPr>
        <p:txBody>
          <a:bodyPr/>
          <a:lstStyle/>
          <a:p>
            <a:pPr/>
            <a:r>
              <a:t>Апарин Георгий</a:t>
            </a:r>
          </a:p>
        </p:txBody>
      </p:sp>
      <p:sp>
        <p:nvSpPr>
          <p:cNvPr id="171" name="Automatic Speech Recognition"/>
          <p:cNvSpPr txBox="1"/>
          <p:nvPr>
            <p:ph type="title"/>
          </p:nvPr>
        </p:nvSpPr>
        <p:spPr>
          <a:xfrm>
            <a:off x="1206495" y="2574991"/>
            <a:ext cx="21971006" cy="4648202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Automatic Speech Recognition </a:t>
            </a:r>
          </a:p>
        </p:txBody>
      </p:sp>
      <p:sp>
        <p:nvSpPr>
          <p:cNvPr id="172" name="лекция 1"/>
          <p:cNvSpPr txBox="1"/>
          <p:nvPr/>
        </p:nvSpPr>
        <p:spPr>
          <a:xfrm>
            <a:off x="1201342" y="7210490"/>
            <a:ext cx="21971002" cy="190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 defTabSz="825500">
              <a:defRPr b="1" sz="5500">
                <a:solidFill>
                  <a:schemeClr val="accent1"/>
                </a:solidFill>
              </a:defRPr>
            </a:lvl1pPr>
          </a:lstStyle>
          <a:p>
            <a:pPr/>
            <a:r>
              <a:t>лекция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Что такое доменные данные…"/>
          <p:cNvSpPr txBox="1"/>
          <p:nvPr>
            <p:ph type="body" idx="1"/>
          </p:nvPr>
        </p:nvSpPr>
        <p:spPr>
          <a:xfrm>
            <a:off x="1206500" y="4649434"/>
            <a:ext cx="21971000" cy="8256013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800"/>
            </a:pPr>
            <a:r>
              <a:t>Что такое доменные данные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800"/>
            </a:pPr>
            <a:r>
              <a:t>Какие бывают методы адаптации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800"/>
            </a:pPr>
            <a:r>
              <a:t>Shallow fusion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800"/>
            </a:pPr>
            <a:r>
              <a:t>Модели адаптации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Доменные данные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Доменные данные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Вспомним архитектуры</a:t>
            </a:r>
          </a:p>
        </p:txBody>
      </p:sp>
      <p:sp>
        <p:nvSpPr>
          <p:cNvPr id="179" name="Rectangle"/>
          <p:cNvSpPr/>
          <p:nvPr/>
        </p:nvSpPr>
        <p:spPr>
          <a:xfrm>
            <a:off x="11557000" y="10393635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0" name="Rectangle"/>
          <p:cNvSpPr/>
          <p:nvPr/>
        </p:nvSpPr>
        <p:spPr>
          <a:xfrm>
            <a:off x="11557000" y="3198326"/>
            <a:ext cx="5945581" cy="88353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81" name="Screenshot 2025-10-18 at 14.22.05.png" descr="Screenshot 2025-10-18 at 14.22.05.png"/>
          <p:cNvPicPr>
            <a:picLocks noChangeAspect="1"/>
          </p:cNvPicPr>
          <p:nvPr/>
        </p:nvPicPr>
        <p:blipFill>
          <a:blip r:embed="rId2">
            <a:extLst/>
          </a:blip>
          <a:srcRect l="27019" t="0" r="428" b="0"/>
          <a:stretch>
            <a:fillRect/>
          </a:stretch>
        </p:blipFill>
        <p:spPr>
          <a:xfrm>
            <a:off x="1265409" y="3942029"/>
            <a:ext cx="5431700" cy="77275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63367" y="4156936"/>
            <a:ext cx="10319507" cy="7297596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Вспомним архитектуры</a:t>
            </a:r>
          </a:p>
        </p:txBody>
      </p:sp>
      <p:sp>
        <p:nvSpPr>
          <p:cNvPr id="185" name="Rectangle"/>
          <p:cNvSpPr/>
          <p:nvPr/>
        </p:nvSpPr>
        <p:spPr>
          <a:xfrm>
            <a:off x="7386364" y="10322545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6" name="Rectangle"/>
          <p:cNvSpPr/>
          <p:nvPr/>
        </p:nvSpPr>
        <p:spPr>
          <a:xfrm>
            <a:off x="6865035" y="3814442"/>
            <a:ext cx="5945582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87" name="Screenshot 2025-10-18 at 14.22.05.png" descr="Screenshot 2025-10-18 at 14.22.05.png"/>
          <p:cNvPicPr>
            <a:picLocks noChangeAspect="1"/>
          </p:cNvPicPr>
          <p:nvPr/>
        </p:nvPicPr>
        <p:blipFill>
          <a:blip r:embed="rId3">
            <a:extLst/>
          </a:blip>
          <a:srcRect l="27019" t="0" r="428" b="0"/>
          <a:stretch>
            <a:fillRect/>
          </a:stretch>
        </p:blipFill>
        <p:spPr>
          <a:xfrm>
            <a:off x="1265409" y="3942029"/>
            <a:ext cx="5431700" cy="77275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28128" t="0" r="35254" b="0"/>
          <a:stretch>
            <a:fillRect/>
          </a:stretch>
        </p:blipFill>
        <p:spPr>
          <a:xfrm>
            <a:off x="18099904" y="4626440"/>
            <a:ext cx="5633867" cy="6358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Screenshot 2025-10-30 at 23.42.41.png" descr="Screenshot 2025-10-30 at 23.42.4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63367" y="4156936"/>
            <a:ext cx="10319507" cy="7297596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Вспомним архитектуры</a:t>
            </a:r>
          </a:p>
        </p:txBody>
      </p:sp>
      <p:sp>
        <p:nvSpPr>
          <p:cNvPr id="192" name="Rectangle"/>
          <p:cNvSpPr/>
          <p:nvPr/>
        </p:nvSpPr>
        <p:spPr>
          <a:xfrm>
            <a:off x="7386364" y="10322545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3" name="Rectangle"/>
          <p:cNvSpPr/>
          <p:nvPr/>
        </p:nvSpPr>
        <p:spPr>
          <a:xfrm>
            <a:off x="6865035" y="3814442"/>
            <a:ext cx="5945582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94" name="Screenshot 2025-10-18 at 14.22.05.png" descr="Screenshot 2025-10-18 at 14.22.05.png"/>
          <p:cNvPicPr>
            <a:picLocks noChangeAspect="1"/>
          </p:cNvPicPr>
          <p:nvPr/>
        </p:nvPicPr>
        <p:blipFill>
          <a:blip r:embed="rId4">
            <a:extLst/>
          </a:blip>
          <a:srcRect l="27019" t="0" r="428" b="0"/>
          <a:stretch>
            <a:fillRect/>
          </a:stretch>
        </p:blipFill>
        <p:spPr>
          <a:xfrm>
            <a:off x="1265409" y="3942029"/>
            <a:ext cx="5431700" cy="77275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28128" t="0" r="35254" b="0"/>
          <a:stretch>
            <a:fillRect/>
          </a:stretch>
        </p:blipFill>
        <p:spPr>
          <a:xfrm>
            <a:off x="18099904" y="4626440"/>
            <a:ext cx="5633867" cy="6358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Screenshot 2025-10-30 at 23.42.41.png" descr="Screenshot 2025-10-30 at 23.42.4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63367" y="4156936"/>
            <a:ext cx="10319507" cy="7297596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Вспомним архитектуры</a:t>
            </a:r>
          </a:p>
        </p:txBody>
      </p:sp>
      <p:sp>
        <p:nvSpPr>
          <p:cNvPr id="199" name="Rectangle"/>
          <p:cNvSpPr/>
          <p:nvPr/>
        </p:nvSpPr>
        <p:spPr>
          <a:xfrm>
            <a:off x="7386364" y="10322545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0" name="Rectangle"/>
          <p:cNvSpPr/>
          <p:nvPr/>
        </p:nvSpPr>
        <p:spPr>
          <a:xfrm>
            <a:off x="6865035" y="3814442"/>
            <a:ext cx="5945582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201" name="Screenshot 2025-10-18 at 14.22.05.png" descr="Screenshot 2025-10-18 at 14.22.05.png"/>
          <p:cNvPicPr>
            <a:picLocks noChangeAspect="1"/>
          </p:cNvPicPr>
          <p:nvPr/>
        </p:nvPicPr>
        <p:blipFill>
          <a:blip r:embed="rId4">
            <a:extLst/>
          </a:blip>
          <a:srcRect l="27019" t="0" r="428" b="0"/>
          <a:stretch>
            <a:fillRect/>
          </a:stretch>
        </p:blipFill>
        <p:spPr>
          <a:xfrm>
            <a:off x="1265409" y="3942029"/>
            <a:ext cx="5431700" cy="7727512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не авторегрессионное предсказание"/>
          <p:cNvSpPr txBox="1"/>
          <p:nvPr/>
        </p:nvSpPr>
        <p:spPr>
          <a:xfrm>
            <a:off x="1261494" y="3262372"/>
            <a:ext cx="5439462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не авторегрессионное предсказание</a:t>
            </a:r>
          </a:p>
        </p:txBody>
      </p:sp>
      <p:sp>
        <p:nvSpPr>
          <p:cNvPr id="203" name="Rectangle"/>
          <p:cNvSpPr/>
          <p:nvPr/>
        </p:nvSpPr>
        <p:spPr>
          <a:xfrm>
            <a:off x="1171185" y="3848413"/>
            <a:ext cx="5433021" cy="1305455"/>
          </a:xfrm>
          <a:prstGeom prst="rect">
            <a:avLst/>
          </a:prstGeom>
          <a:solidFill>
            <a:schemeClr val="accent4">
              <a:hueOff val="-1247790"/>
              <a:lumOff val="-12326"/>
              <a:alpha val="33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28128" t="0" r="35254" b="0"/>
          <a:stretch>
            <a:fillRect/>
          </a:stretch>
        </p:blipFill>
        <p:spPr>
          <a:xfrm>
            <a:off x="18099904" y="4626440"/>
            <a:ext cx="5633867" cy="6358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Screenshot 2025-10-30 at 23.42.41.png" descr="Screenshot 2025-10-30 at 23.42.4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63367" y="4156936"/>
            <a:ext cx="10319507" cy="7297596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Вспомним архитектуры</a:t>
            </a:r>
          </a:p>
        </p:txBody>
      </p:sp>
      <p:sp>
        <p:nvSpPr>
          <p:cNvPr id="208" name="Rectangle"/>
          <p:cNvSpPr/>
          <p:nvPr/>
        </p:nvSpPr>
        <p:spPr>
          <a:xfrm>
            <a:off x="7386364" y="10322545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9" name="Rectangle"/>
          <p:cNvSpPr/>
          <p:nvPr/>
        </p:nvSpPr>
        <p:spPr>
          <a:xfrm>
            <a:off x="6865035" y="3814442"/>
            <a:ext cx="5945582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210" name="Screenshot 2025-10-18 at 14.22.05.png" descr="Screenshot 2025-10-18 at 14.22.05.png"/>
          <p:cNvPicPr>
            <a:picLocks noChangeAspect="1"/>
          </p:cNvPicPr>
          <p:nvPr/>
        </p:nvPicPr>
        <p:blipFill>
          <a:blip r:embed="rId4">
            <a:extLst/>
          </a:blip>
          <a:srcRect l="27019" t="0" r="428" b="0"/>
          <a:stretch>
            <a:fillRect/>
          </a:stretch>
        </p:blipFill>
        <p:spPr>
          <a:xfrm>
            <a:off x="1265409" y="3942029"/>
            <a:ext cx="5431700" cy="7727512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авторегрессионное предсказание…"/>
          <p:cNvSpPr txBox="1"/>
          <p:nvPr/>
        </p:nvSpPr>
        <p:spPr>
          <a:xfrm>
            <a:off x="12035966" y="3338887"/>
            <a:ext cx="6489498" cy="82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авторегрессионное предсказание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большой декодер (лингвистическая модель)</a:t>
            </a:r>
          </a:p>
        </p:txBody>
      </p:sp>
      <p:sp>
        <p:nvSpPr>
          <p:cNvPr id="212" name="Rectangle"/>
          <p:cNvSpPr/>
          <p:nvPr/>
        </p:nvSpPr>
        <p:spPr>
          <a:xfrm>
            <a:off x="12564900" y="4256166"/>
            <a:ext cx="5431632" cy="7403582"/>
          </a:xfrm>
          <a:prstGeom prst="rect">
            <a:avLst/>
          </a:prstGeom>
          <a:solidFill>
            <a:schemeClr val="accent4">
              <a:hueOff val="-1247790"/>
              <a:lumOff val="-12326"/>
              <a:alpha val="33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28128" t="0" r="35254" b="0"/>
          <a:stretch>
            <a:fillRect/>
          </a:stretch>
        </p:blipFill>
        <p:spPr>
          <a:xfrm>
            <a:off x="18099904" y="4626440"/>
            <a:ext cx="5633867" cy="6358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Screenshot 2025-10-30 at 23.42.41.png" descr="Screenshot 2025-10-30 at 23.42.4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63367" y="4156936"/>
            <a:ext cx="10319507" cy="7297596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Вспомним архитектуры</a:t>
            </a:r>
          </a:p>
        </p:txBody>
      </p:sp>
      <p:sp>
        <p:nvSpPr>
          <p:cNvPr id="217" name="Rectangle"/>
          <p:cNvSpPr/>
          <p:nvPr/>
        </p:nvSpPr>
        <p:spPr>
          <a:xfrm>
            <a:off x="7386364" y="10322545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8" name="Rectangle"/>
          <p:cNvSpPr/>
          <p:nvPr/>
        </p:nvSpPr>
        <p:spPr>
          <a:xfrm>
            <a:off x="6865035" y="3814442"/>
            <a:ext cx="5945582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219" name="Screenshot 2025-10-18 at 14.22.05.png" descr="Screenshot 2025-10-18 at 14.22.05.png"/>
          <p:cNvPicPr>
            <a:picLocks noChangeAspect="1"/>
          </p:cNvPicPr>
          <p:nvPr/>
        </p:nvPicPr>
        <p:blipFill>
          <a:blip r:embed="rId4">
            <a:extLst/>
          </a:blip>
          <a:srcRect l="27019" t="0" r="428" b="0"/>
          <a:stretch>
            <a:fillRect/>
          </a:stretch>
        </p:blipFill>
        <p:spPr>
          <a:xfrm>
            <a:off x="1265409" y="3942029"/>
            <a:ext cx="5431700" cy="7727512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авторегрессионное предсказание…"/>
          <p:cNvSpPr txBox="1"/>
          <p:nvPr/>
        </p:nvSpPr>
        <p:spPr>
          <a:xfrm>
            <a:off x="17531357" y="3628108"/>
            <a:ext cx="6771133" cy="82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авторегрессионное предсказание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маленький декодер (лингвистическая модель)</a:t>
            </a:r>
          </a:p>
        </p:txBody>
      </p:sp>
      <p:sp>
        <p:nvSpPr>
          <p:cNvPr id="221" name="Rectangle"/>
          <p:cNvSpPr/>
          <p:nvPr/>
        </p:nvSpPr>
        <p:spPr>
          <a:xfrm>
            <a:off x="20986548" y="5044547"/>
            <a:ext cx="2779906" cy="4119540"/>
          </a:xfrm>
          <a:prstGeom prst="rect">
            <a:avLst/>
          </a:prstGeom>
          <a:solidFill>
            <a:schemeClr val="accent4">
              <a:hueOff val="-1247790"/>
              <a:lumOff val="-12326"/>
              <a:alpha val="33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28128" t="0" r="35254" b="0"/>
          <a:stretch>
            <a:fillRect/>
          </a:stretch>
        </p:blipFill>
        <p:spPr>
          <a:xfrm>
            <a:off x="18099904" y="4626440"/>
            <a:ext cx="5633867" cy="6358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Screenshot 2025-10-30 at 23.42.41.png" descr="Screenshot 2025-10-30 at 23.42.4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63367" y="4156936"/>
            <a:ext cx="10319507" cy="7297596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Вспомним архитектуры</a:t>
            </a:r>
          </a:p>
        </p:txBody>
      </p:sp>
      <p:sp>
        <p:nvSpPr>
          <p:cNvPr id="226" name="Rectangle"/>
          <p:cNvSpPr/>
          <p:nvPr/>
        </p:nvSpPr>
        <p:spPr>
          <a:xfrm>
            <a:off x="7386364" y="10322545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7" name="Rectangle"/>
          <p:cNvSpPr/>
          <p:nvPr/>
        </p:nvSpPr>
        <p:spPr>
          <a:xfrm>
            <a:off x="6865035" y="3814442"/>
            <a:ext cx="5945582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228" name="Screenshot 2025-10-18 at 14.22.05.png" descr="Screenshot 2025-10-18 at 14.22.05.png"/>
          <p:cNvPicPr>
            <a:picLocks noChangeAspect="1"/>
          </p:cNvPicPr>
          <p:nvPr/>
        </p:nvPicPr>
        <p:blipFill>
          <a:blip r:embed="rId4">
            <a:extLst/>
          </a:blip>
          <a:srcRect l="27019" t="0" r="428" b="0"/>
          <a:stretch>
            <a:fillRect/>
          </a:stretch>
        </p:blipFill>
        <p:spPr>
          <a:xfrm>
            <a:off x="1265409" y="3942029"/>
            <a:ext cx="5431700" cy="7727512"/>
          </a:xfrm>
          <a:prstGeom prst="rect">
            <a:avLst/>
          </a:prstGeom>
          <a:ln w="12700">
            <a:miter lim="400000"/>
          </a:ln>
        </p:spPr>
      </p:pic>
      <p:sp>
        <p:nvSpPr>
          <p:cNvPr id="229" name="поиск лучшего выравнивания…"/>
          <p:cNvSpPr txBox="1"/>
          <p:nvPr/>
        </p:nvSpPr>
        <p:spPr>
          <a:xfrm>
            <a:off x="1111037" y="3101919"/>
            <a:ext cx="4460749" cy="82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поиск лучшего выравнивания 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между фреймами и токенами</a:t>
            </a:r>
          </a:p>
        </p:txBody>
      </p:sp>
      <p:sp>
        <p:nvSpPr>
          <p:cNvPr id="230" name="поиск лучшего выравнивания…"/>
          <p:cNvSpPr txBox="1"/>
          <p:nvPr/>
        </p:nvSpPr>
        <p:spPr>
          <a:xfrm>
            <a:off x="19294994" y="3655461"/>
            <a:ext cx="4460749" cy="82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поиск лучшего выравнивания 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между фреймами и токенами</a:t>
            </a:r>
          </a:p>
        </p:txBody>
      </p:sp>
      <p:sp>
        <p:nvSpPr>
          <p:cNvPr id="231" name="предсказание следующего токена"/>
          <p:cNvSpPr txBox="1"/>
          <p:nvPr/>
        </p:nvSpPr>
        <p:spPr>
          <a:xfrm>
            <a:off x="12349970" y="3839611"/>
            <a:ext cx="5050232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предсказание следующего токена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5662" y="3351312"/>
            <a:ext cx="12512650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вне-доменных данных</a:t>
            </a:r>
          </a:p>
        </p:txBody>
      </p:sp>
      <p:sp>
        <p:nvSpPr>
          <p:cNvPr id="235" name="Rectangle"/>
          <p:cNvSpPr/>
          <p:nvPr/>
        </p:nvSpPr>
        <p:spPr>
          <a:xfrm>
            <a:off x="5917163" y="10369938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6" name="Rectangle"/>
          <p:cNvSpPr/>
          <p:nvPr/>
        </p:nvSpPr>
        <p:spPr>
          <a:xfrm>
            <a:off x="6059344" y="3008751"/>
            <a:ext cx="5945581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5662" y="3351312"/>
            <a:ext cx="12512650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вне-доменных данных</a:t>
            </a:r>
          </a:p>
        </p:txBody>
      </p:sp>
      <p:sp>
        <p:nvSpPr>
          <p:cNvPr id="240" name="Rectangle"/>
          <p:cNvSpPr/>
          <p:nvPr/>
        </p:nvSpPr>
        <p:spPr>
          <a:xfrm>
            <a:off x="5917163" y="10369938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1" name="Rectangle"/>
          <p:cNvSpPr/>
          <p:nvPr/>
        </p:nvSpPr>
        <p:spPr>
          <a:xfrm>
            <a:off x="6059344" y="3008751"/>
            <a:ext cx="5945581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2" name="Различные шумы"/>
          <p:cNvSpPr txBox="1"/>
          <p:nvPr>
            <p:ph type="body" sz="quarter" idx="1"/>
          </p:nvPr>
        </p:nvSpPr>
        <p:spPr>
          <a:xfrm>
            <a:off x="377112" y="5169757"/>
            <a:ext cx="6517174" cy="5211439"/>
          </a:xfrm>
          <a:prstGeom prst="rect">
            <a:avLst/>
          </a:prstGeom>
        </p:spPr>
        <p:txBody>
          <a:bodyPr lIns="50800" tIns="50800" rIns="50800" bIns="50800"/>
          <a:lstStyle>
            <a:lvl1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lvl1pPr>
          </a:lstStyle>
          <a:p>
            <a:pPr/>
            <a:r>
              <a:t>Различные шумы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5662" y="3351312"/>
            <a:ext cx="12512650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вне-доменных данных</a:t>
            </a:r>
          </a:p>
        </p:txBody>
      </p:sp>
      <p:sp>
        <p:nvSpPr>
          <p:cNvPr id="246" name="Rectangle"/>
          <p:cNvSpPr/>
          <p:nvPr/>
        </p:nvSpPr>
        <p:spPr>
          <a:xfrm>
            <a:off x="5917163" y="10369938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7" name="Rectangle"/>
          <p:cNvSpPr/>
          <p:nvPr/>
        </p:nvSpPr>
        <p:spPr>
          <a:xfrm>
            <a:off x="6059344" y="3008751"/>
            <a:ext cx="5945581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8" name="Различные шумы…"/>
          <p:cNvSpPr txBox="1"/>
          <p:nvPr>
            <p:ph type="body" sz="quarter" idx="1"/>
          </p:nvPr>
        </p:nvSpPr>
        <p:spPr>
          <a:xfrm>
            <a:off x="377112" y="5169757"/>
            <a:ext cx="6517174" cy="5211439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Различные шумы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Новые звуковые эвенты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5662" y="3351312"/>
            <a:ext cx="12512650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вне-доменных данных</a:t>
            </a:r>
          </a:p>
        </p:txBody>
      </p:sp>
      <p:sp>
        <p:nvSpPr>
          <p:cNvPr id="252" name="Rectangle"/>
          <p:cNvSpPr/>
          <p:nvPr/>
        </p:nvSpPr>
        <p:spPr>
          <a:xfrm>
            <a:off x="5917163" y="10369938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3" name="Rectangle"/>
          <p:cNvSpPr/>
          <p:nvPr/>
        </p:nvSpPr>
        <p:spPr>
          <a:xfrm>
            <a:off x="6059344" y="3008751"/>
            <a:ext cx="5945581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4" name="Различные шумы…"/>
          <p:cNvSpPr txBox="1"/>
          <p:nvPr>
            <p:ph type="body" sz="quarter" idx="1"/>
          </p:nvPr>
        </p:nvSpPr>
        <p:spPr>
          <a:xfrm>
            <a:off x="377112" y="5169757"/>
            <a:ext cx="6517174" cy="5211439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Различные шумы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Новые звуковые эвенты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Эхо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5662" y="3351312"/>
            <a:ext cx="12512650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вне-доменных данных</a:t>
            </a:r>
          </a:p>
        </p:txBody>
      </p:sp>
      <p:sp>
        <p:nvSpPr>
          <p:cNvPr id="258" name="Rectangle"/>
          <p:cNvSpPr/>
          <p:nvPr/>
        </p:nvSpPr>
        <p:spPr>
          <a:xfrm>
            <a:off x="5917163" y="10369938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9" name="Rectangle"/>
          <p:cNvSpPr/>
          <p:nvPr/>
        </p:nvSpPr>
        <p:spPr>
          <a:xfrm>
            <a:off x="6059344" y="3008751"/>
            <a:ext cx="5945581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0" name="Различные шумы…"/>
          <p:cNvSpPr txBox="1"/>
          <p:nvPr>
            <p:ph type="body" sz="quarter" idx="1"/>
          </p:nvPr>
        </p:nvSpPr>
        <p:spPr>
          <a:xfrm>
            <a:off x="377112" y="5169757"/>
            <a:ext cx="6517174" cy="5211439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Различные шумы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Новые звуковые эвенты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Эхо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Акцент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5662" y="3351312"/>
            <a:ext cx="12512650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вне-доменных данных</a:t>
            </a:r>
          </a:p>
        </p:txBody>
      </p:sp>
      <p:sp>
        <p:nvSpPr>
          <p:cNvPr id="264" name="Rectangle"/>
          <p:cNvSpPr/>
          <p:nvPr/>
        </p:nvSpPr>
        <p:spPr>
          <a:xfrm>
            <a:off x="5917163" y="10369938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5" name="Rectangle"/>
          <p:cNvSpPr/>
          <p:nvPr/>
        </p:nvSpPr>
        <p:spPr>
          <a:xfrm>
            <a:off x="6059344" y="3008751"/>
            <a:ext cx="5945581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6" name="Различные шумы…"/>
          <p:cNvSpPr txBox="1"/>
          <p:nvPr>
            <p:ph type="body" sz="quarter" idx="1"/>
          </p:nvPr>
        </p:nvSpPr>
        <p:spPr>
          <a:xfrm>
            <a:off x="377112" y="5169757"/>
            <a:ext cx="6517174" cy="5211439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Различные шумы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Новые звуковые эвенты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Эхо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Акцент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Громкость речи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5662" y="3351312"/>
            <a:ext cx="12512650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вне-доменных данных</a:t>
            </a:r>
          </a:p>
        </p:txBody>
      </p:sp>
      <p:sp>
        <p:nvSpPr>
          <p:cNvPr id="270" name="Rectangle"/>
          <p:cNvSpPr/>
          <p:nvPr/>
        </p:nvSpPr>
        <p:spPr>
          <a:xfrm>
            <a:off x="5917163" y="10369938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1" name="Rectangle"/>
          <p:cNvSpPr/>
          <p:nvPr/>
        </p:nvSpPr>
        <p:spPr>
          <a:xfrm>
            <a:off x="6059344" y="3008751"/>
            <a:ext cx="5945581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2" name="Различные шумы…"/>
          <p:cNvSpPr txBox="1"/>
          <p:nvPr>
            <p:ph type="body" sz="quarter" idx="1"/>
          </p:nvPr>
        </p:nvSpPr>
        <p:spPr>
          <a:xfrm>
            <a:off x="377112" y="5169757"/>
            <a:ext cx="6517174" cy="5211439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Различные шумы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Новые звуковые эвенты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Эхо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Акцент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Громкость речи</a:t>
            </a:r>
          </a:p>
        </p:txBody>
      </p:sp>
      <p:sp>
        <p:nvSpPr>
          <p:cNvPr id="273" name="Rectangle"/>
          <p:cNvSpPr/>
          <p:nvPr/>
        </p:nvSpPr>
        <p:spPr>
          <a:xfrm>
            <a:off x="206235" y="4540527"/>
            <a:ext cx="11730285" cy="7795598"/>
          </a:xfrm>
          <a:prstGeom prst="rect">
            <a:avLst/>
          </a:prstGeom>
          <a:solidFill>
            <a:schemeClr val="accent1">
              <a:alpha val="33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5662" y="3351312"/>
            <a:ext cx="12512650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вне-доменных данных</a:t>
            </a:r>
          </a:p>
        </p:txBody>
      </p:sp>
      <p:sp>
        <p:nvSpPr>
          <p:cNvPr id="277" name="Rectangle"/>
          <p:cNvSpPr/>
          <p:nvPr/>
        </p:nvSpPr>
        <p:spPr>
          <a:xfrm>
            <a:off x="5917163" y="10369938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8" name="Rectangle"/>
          <p:cNvSpPr/>
          <p:nvPr/>
        </p:nvSpPr>
        <p:spPr>
          <a:xfrm>
            <a:off x="6059344" y="3008751"/>
            <a:ext cx="5945581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9" name="Различные шумы…"/>
          <p:cNvSpPr txBox="1"/>
          <p:nvPr>
            <p:ph type="body" sz="quarter" idx="1"/>
          </p:nvPr>
        </p:nvSpPr>
        <p:spPr>
          <a:xfrm>
            <a:off x="377112" y="5169757"/>
            <a:ext cx="6517174" cy="5211439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Различные шумы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Новые звуковые эвенты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Эхо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Акцент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Громкость речи</a:t>
            </a:r>
          </a:p>
        </p:txBody>
      </p:sp>
      <p:sp>
        <p:nvSpPr>
          <p:cNvPr id="280" name="Новые слова"/>
          <p:cNvSpPr txBox="1"/>
          <p:nvPr/>
        </p:nvSpPr>
        <p:spPr>
          <a:xfrm>
            <a:off x="18892823" y="5169757"/>
            <a:ext cx="6517175" cy="5211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Новые слова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5662" y="3351312"/>
            <a:ext cx="12512650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283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вне-доменных данных</a:t>
            </a:r>
          </a:p>
        </p:txBody>
      </p:sp>
      <p:sp>
        <p:nvSpPr>
          <p:cNvPr id="284" name="Rectangle"/>
          <p:cNvSpPr/>
          <p:nvPr/>
        </p:nvSpPr>
        <p:spPr>
          <a:xfrm>
            <a:off x="5917163" y="10369938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5" name="Rectangle"/>
          <p:cNvSpPr/>
          <p:nvPr/>
        </p:nvSpPr>
        <p:spPr>
          <a:xfrm>
            <a:off x="6059344" y="3008751"/>
            <a:ext cx="5945581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6" name="Различные шумы…"/>
          <p:cNvSpPr txBox="1"/>
          <p:nvPr>
            <p:ph type="body" sz="quarter" idx="1"/>
          </p:nvPr>
        </p:nvSpPr>
        <p:spPr>
          <a:xfrm>
            <a:off x="377112" y="5169757"/>
            <a:ext cx="6517174" cy="5211439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Различные шумы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Новые звуковые эвенты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Эхо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Акцент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Громкость речи</a:t>
            </a:r>
          </a:p>
        </p:txBody>
      </p:sp>
      <p:sp>
        <p:nvSpPr>
          <p:cNvPr id="287" name="Новые слова…"/>
          <p:cNvSpPr txBox="1"/>
          <p:nvPr/>
        </p:nvSpPr>
        <p:spPr>
          <a:xfrm>
            <a:off x="18892823" y="5169757"/>
            <a:ext cx="6517175" cy="5211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Новые слова</a:t>
            </a:r>
          </a:p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Проф. термины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5662" y="3351312"/>
            <a:ext cx="12512650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вне-доменных данных</a:t>
            </a:r>
          </a:p>
        </p:txBody>
      </p:sp>
      <p:sp>
        <p:nvSpPr>
          <p:cNvPr id="291" name="Rectangle"/>
          <p:cNvSpPr/>
          <p:nvPr/>
        </p:nvSpPr>
        <p:spPr>
          <a:xfrm>
            <a:off x="5917163" y="10369938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2" name="Rectangle"/>
          <p:cNvSpPr/>
          <p:nvPr/>
        </p:nvSpPr>
        <p:spPr>
          <a:xfrm>
            <a:off x="6059344" y="3008751"/>
            <a:ext cx="5945581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3" name="Различные шумы…"/>
          <p:cNvSpPr txBox="1"/>
          <p:nvPr>
            <p:ph type="body" sz="quarter" idx="1"/>
          </p:nvPr>
        </p:nvSpPr>
        <p:spPr>
          <a:xfrm>
            <a:off x="377112" y="5169757"/>
            <a:ext cx="6517174" cy="5211439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Различные шумы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Новые звуковые эвенты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Эхо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Акцент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Громкость речи</a:t>
            </a:r>
          </a:p>
        </p:txBody>
      </p:sp>
      <p:sp>
        <p:nvSpPr>
          <p:cNvPr id="294" name="Новые слова…"/>
          <p:cNvSpPr txBox="1"/>
          <p:nvPr/>
        </p:nvSpPr>
        <p:spPr>
          <a:xfrm>
            <a:off x="18892823" y="5169757"/>
            <a:ext cx="6517175" cy="5211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Новые слова</a:t>
            </a:r>
          </a:p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Проф. термины</a:t>
            </a:r>
          </a:p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Сленг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5662" y="3351312"/>
            <a:ext cx="12512650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297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вне-доменных данных</a:t>
            </a:r>
          </a:p>
        </p:txBody>
      </p:sp>
      <p:sp>
        <p:nvSpPr>
          <p:cNvPr id="298" name="Rectangle"/>
          <p:cNvSpPr/>
          <p:nvPr/>
        </p:nvSpPr>
        <p:spPr>
          <a:xfrm>
            <a:off x="5917163" y="10369938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9" name="Rectangle"/>
          <p:cNvSpPr/>
          <p:nvPr/>
        </p:nvSpPr>
        <p:spPr>
          <a:xfrm>
            <a:off x="6059344" y="3008751"/>
            <a:ext cx="5945581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0" name="Различные шумы…"/>
          <p:cNvSpPr txBox="1"/>
          <p:nvPr>
            <p:ph type="body" sz="quarter" idx="1"/>
          </p:nvPr>
        </p:nvSpPr>
        <p:spPr>
          <a:xfrm>
            <a:off x="377112" y="5169757"/>
            <a:ext cx="6517174" cy="5211439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Различные шумы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Новые звуковые эвенты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Эхо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Акцент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Громкость речи</a:t>
            </a:r>
          </a:p>
        </p:txBody>
      </p:sp>
      <p:sp>
        <p:nvSpPr>
          <p:cNvPr id="301" name="Новые слова…"/>
          <p:cNvSpPr txBox="1"/>
          <p:nvPr/>
        </p:nvSpPr>
        <p:spPr>
          <a:xfrm>
            <a:off x="18892823" y="5169757"/>
            <a:ext cx="6517175" cy="5211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Новые слова</a:t>
            </a:r>
          </a:p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Проф. термины</a:t>
            </a:r>
          </a:p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Сленг</a:t>
            </a:r>
          </a:p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Акцент (Диалект)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5662" y="3351312"/>
            <a:ext cx="12512650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вне-доменных данных</a:t>
            </a:r>
          </a:p>
        </p:txBody>
      </p:sp>
      <p:sp>
        <p:nvSpPr>
          <p:cNvPr id="305" name="Rectangle"/>
          <p:cNvSpPr/>
          <p:nvPr/>
        </p:nvSpPr>
        <p:spPr>
          <a:xfrm>
            <a:off x="5917163" y="10369938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6" name="Rectangle"/>
          <p:cNvSpPr/>
          <p:nvPr/>
        </p:nvSpPr>
        <p:spPr>
          <a:xfrm>
            <a:off x="6059344" y="3008751"/>
            <a:ext cx="5945581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7" name="Различные шумы…"/>
          <p:cNvSpPr txBox="1"/>
          <p:nvPr>
            <p:ph type="body" sz="quarter" idx="1"/>
          </p:nvPr>
        </p:nvSpPr>
        <p:spPr>
          <a:xfrm>
            <a:off x="377112" y="5169757"/>
            <a:ext cx="6517174" cy="5211439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Различные шумы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Новые звуковые эвенты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Эхо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Акцент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Громкость речи</a:t>
            </a:r>
          </a:p>
        </p:txBody>
      </p:sp>
      <p:sp>
        <p:nvSpPr>
          <p:cNvPr id="308" name="Новые слова…"/>
          <p:cNvSpPr txBox="1"/>
          <p:nvPr/>
        </p:nvSpPr>
        <p:spPr>
          <a:xfrm>
            <a:off x="18892823" y="5169757"/>
            <a:ext cx="6517175" cy="5211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Новые слова</a:t>
            </a:r>
          </a:p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Проф. термины</a:t>
            </a:r>
          </a:p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Сленг</a:t>
            </a:r>
          </a:p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Акцент (Диалект)</a:t>
            </a:r>
          </a:p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Новый язык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5662" y="3351312"/>
            <a:ext cx="12512650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вне-доменных данных</a:t>
            </a:r>
          </a:p>
        </p:txBody>
      </p:sp>
      <p:sp>
        <p:nvSpPr>
          <p:cNvPr id="312" name="Rectangle"/>
          <p:cNvSpPr/>
          <p:nvPr/>
        </p:nvSpPr>
        <p:spPr>
          <a:xfrm>
            <a:off x="5917163" y="10369938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3" name="Rectangle"/>
          <p:cNvSpPr/>
          <p:nvPr/>
        </p:nvSpPr>
        <p:spPr>
          <a:xfrm>
            <a:off x="6059344" y="3008751"/>
            <a:ext cx="5945581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4" name="Различные шумы…"/>
          <p:cNvSpPr txBox="1"/>
          <p:nvPr>
            <p:ph type="body" sz="quarter" idx="1"/>
          </p:nvPr>
        </p:nvSpPr>
        <p:spPr>
          <a:xfrm>
            <a:off x="377112" y="5169757"/>
            <a:ext cx="6517174" cy="5211439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Различные шумы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Новые звуковые эвенты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Эхо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Акцент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Громкость речи</a:t>
            </a:r>
          </a:p>
        </p:txBody>
      </p:sp>
      <p:sp>
        <p:nvSpPr>
          <p:cNvPr id="315" name="Новые слова…"/>
          <p:cNvSpPr txBox="1"/>
          <p:nvPr/>
        </p:nvSpPr>
        <p:spPr>
          <a:xfrm>
            <a:off x="18892823" y="5169757"/>
            <a:ext cx="6517175" cy="5211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Новые слова</a:t>
            </a:r>
          </a:p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Проф. термины</a:t>
            </a:r>
          </a:p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Сленг</a:t>
            </a:r>
          </a:p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Акцент (Диалект)</a:t>
            </a:r>
          </a:p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Новый язык</a:t>
            </a:r>
          </a:p>
        </p:txBody>
      </p:sp>
      <p:sp>
        <p:nvSpPr>
          <p:cNvPr id="316" name="Rectangle"/>
          <p:cNvSpPr/>
          <p:nvPr/>
        </p:nvSpPr>
        <p:spPr>
          <a:xfrm>
            <a:off x="12312844" y="3252872"/>
            <a:ext cx="11394616" cy="9045208"/>
          </a:xfrm>
          <a:prstGeom prst="rect">
            <a:avLst/>
          </a:prstGeom>
          <a:solidFill>
            <a:schemeClr val="accent4">
              <a:hueOff val="-1247790"/>
              <a:lumOff val="-12326"/>
              <a:alpha val="33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5662" y="3351312"/>
            <a:ext cx="12512650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319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вне-доменных данных</a:t>
            </a:r>
          </a:p>
        </p:txBody>
      </p:sp>
      <p:sp>
        <p:nvSpPr>
          <p:cNvPr id="320" name="Rectangle"/>
          <p:cNvSpPr/>
          <p:nvPr/>
        </p:nvSpPr>
        <p:spPr>
          <a:xfrm>
            <a:off x="5917163" y="10369938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1" name="Rectangle"/>
          <p:cNvSpPr/>
          <p:nvPr/>
        </p:nvSpPr>
        <p:spPr>
          <a:xfrm>
            <a:off x="6059344" y="3008751"/>
            <a:ext cx="5945581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2" name="Rectangle"/>
          <p:cNvSpPr/>
          <p:nvPr/>
        </p:nvSpPr>
        <p:spPr>
          <a:xfrm>
            <a:off x="326849" y="4951889"/>
            <a:ext cx="6046108" cy="5647175"/>
          </a:xfrm>
          <a:prstGeom prst="rect">
            <a:avLst/>
          </a:prstGeom>
          <a:solidFill>
            <a:srgbClr val="FFFFFF"/>
          </a:solidFill>
          <a:ln w="1270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3" name="Различные шумы…"/>
          <p:cNvSpPr txBox="1"/>
          <p:nvPr>
            <p:ph type="body" sz="quarter" idx="1"/>
          </p:nvPr>
        </p:nvSpPr>
        <p:spPr>
          <a:xfrm>
            <a:off x="377112" y="5169757"/>
            <a:ext cx="5945582" cy="5211439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Различные шумы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Новые звуковые эвенты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Эхо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Акцент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Громкость речи</a:t>
            </a:r>
          </a:p>
        </p:txBody>
      </p:sp>
      <p:sp>
        <p:nvSpPr>
          <p:cNvPr id="324" name="Rectangle"/>
          <p:cNvSpPr/>
          <p:nvPr/>
        </p:nvSpPr>
        <p:spPr>
          <a:xfrm>
            <a:off x="18669832" y="4951889"/>
            <a:ext cx="5219775" cy="5647175"/>
          </a:xfrm>
          <a:prstGeom prst="rect">
            <a:avLst/>
          </a:prstGeom>
          <a:solidFill>
            <a:srgbClr val="FFFFFF"/>
          </a:solidFill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5" name="Новые слова…"/>
          <p:cNvSpPr txBox="1"/>
          <p:nvPr/>
        </p:nvSpPr>
        <p:spPr>
          <a:xfrm>
            <a:off x="18892823" y="5169757"/>
            <a:ext cx="6517175" cy="5211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Новые слова</a:t>
            </a:r>
          </a:p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Проф. термины</a:t>
            </a:r>
          </a:p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Сленг</a:t>
            </a:r>
          </a:p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Акцент (Диалект)</a:t>
            </a:r>
          </a:p>
          <a:p>
            <a:pPr marL="609600" indent="-609600" algn="l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600">
                <a:solidFill>
                  <a:srgbClr val="000000"/>
                </a:solidFill>
              </a:defRPr>
            </a:pPr>
            <a:r>
              <a:t>Новый язык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3209409"/>
            <a:ext cx="24384001" cy="10587516"/>
          </a:xfrm>
          <a:prstGeom prst="rect">
            <a:avLst/>
          </a:prstGeom>
          <a:ln w="12700">
            <a:miter lim="400000"/>
          </a:ln>
        </p:spPr>
      </p:pic>
      <p:sp>
        <p:nvSpPr>
          <p:cNvPr id="328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вне-доменных данных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вне-доменных данных</a:t>
            </a:r>
          </a:p>
        </p:txBody>
      </p:sp>
      <p:pic>
        <p:nvPicPr>
          <p:cNvPr id="331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11114" t="19652" r="11114" b="16449"/>
          <a:stretch>
            <a:fillRect/>
          </a:stretch>
        </p:blipFill>
        <p:spPr>
          <a:xfrm>
            <a:off x="4041157" y="4097647"/>
            <a:ext cx="15443155" cy="71372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Методы адаптации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Методы адаптации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28128" t="0" r="35254" b="0"/>
          <a:stretch>
            <a:fillRect/>
          </a:stretch>
        </p:blipFill>
        <p:spPr>
          <a:xfrm>
            <a:off x="18099904" y="4626440"/>
            <a:ext cx="5633867" cy="6358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336" name="Screenshot 2025-10-30 at 23.42.41.png" descr="Screenshot 2025-10-30 at 23.42.4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63367" y="4156936"/>
            <a:ext cx="10319507" cy="7297596"/>
          </a:xfrm>
          <a:prstGeom prst="rect">
            <a:avLst/>
          </a:prstGeom>
          <a:ln w="12700">
            <a:miter lim="400000"/>
          </a:ln>
        </p:spPr>
      </p:pic>
      <p:sp>
        <p:nvSpPr>
          <p:cNvPr id="337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sp>
        <p:nvSpPr>
          <p:cNvPr id="338" name="Rectangle"/>
          <p:cNvSpPr/>
          <p:nvPr/>
        </p:nvSpPr>
        <p:spPr>
          <a:xfrm>
            <a:off x="7386364" y="10322545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9" name="Rectangle"/>
          <p:cNvSpPr/>
          <p:nvPr/>
        </p:nvSpPr>
        <p:spPr>
          <a:xfrm>
            <a:off x="6865035" y="3814442"/>
            <a:ext cx="5945582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340" name="Screenshot 2025-10-18 at 14.22.05.png" descr="Screenshot 2025-10-18 at 14.22.05.png"/>
          <p:cNvPicPr>
            <a:picLocks noChangeAspect="1"/>
          </p:cNvPicPr>
          <p:nvPr/>
        </p:nvPicPr>
        <p:blipFill>
          <a:blip r:embed="rId4">
            <a:extLst/>
          </a:blip>
          <a:srcRect l="27019" t="0" r="428" b="0"/>
          <a:stretch>
            <a:fillRect/>
          </a:stretch>
        </p:blipFill>
        <p:spPr>
          <a:xfrm>
            <a:off x="1265409" y="3942029"/>
            <a:ext cx="5431700" cy="77275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28128" t="0" r="35254" b="0"/>
          <a:stretch>
            <a:fillRect/>
          </a:stretch>
        </p:blipFill>
        <p:spPr>
          <a:xfrm>
            <a:off x="18099904" y="4626440"/>
            <a:ext cx="5633867" cy="6358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343" name="Screenshot 2025-10-30 at 23.42.41.png" descr="Screenshot 2025-10-30 at 23.42.4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63367" y="4156936"/>
            <a:ext cx="10319507" cy="7297596"/>
          </a:xfrm>
          <a:prstGeom prst="rect">
            <a:avLst/>
          </a:prstGeom>
          <a:ln w="12700">
            <a:miter lim="400000"/>
          </a:ln>
        </p:spPr>
      </p:pic>
      <p:sp>
        <p:nvSpPr>
          <p:cNvPr id="344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sp>
        <p:nvSpPr>
          <p:cNvPr id="345" name="Rectangle"/>
          <p:cNvSpPr/>
          <p:nvPr/>
        </p:nvSpPr>
        <p:spPr>
          <a:xfrm>
            <a:off x="7386364" y="10322545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6" name="Rectangle"/>
          <p:cNvSpPr/>
          <p:nvPr/>
        </p:nvSpPr>
        <p:spPr>
          <a:xfrm>
            <a:off x="6865035" y="3814442"/>
            <a:ext cx="5945582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347" name="Screenshot 2025-10-18 at 14.22.05.png" descr="Screenshot 2025-10-18 at 14.22.05.png"/>
          <p:cNvPicPr>
            <a:picLocks noChangeAspect="1"/>
          </p:cNvPicPr>
          <p:nvPr/>
        </p:nvPicPr>
        <p:blipFill>
          <a:blip r:embed="rId4">
            <a:extLst/>
          </a:blip>
          <a:srcRect l="27019" t="0" r="428" b="0"/>
          <a:stretch>
            <a:fillRect/>
          </a:stretch>
        </p:blipFill>
        <p:spPr>
          <a:xfrm>
            <a:off x="1265409" y="3942029"/>
            <a:ext cx="5431700" cy="7727512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Rectangle"/>
          <p:cNvSpPr/>
          <p:nvPr/>
        </p:nvSpPr>
        <p:spPr>
          <a:xfrm>
            <a:off x="1248895" y="3853320"/>
            <a:ext cx="5230975" cy="1270001"/>
          </a:xfrm>
          <a:prstGeom prst="rect">
            <a:avLst/>
          </a:prstGeom>
          <a:solidFill>
            <a:schemeClr val="accent3">
              <a:hueOff val="362282"/>
              <a:satOff val="31803"/>
              <a:lumOff val="-18242"/>
              <a:alpha val="33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9" name="Rectangle"/>
          <p:cNvSpPr/>
          <p:nvPr/>
        </p:nvSpPr>
        <p:spPr>
          <a:xfrm>
            <a:off x="12877633" y="4217288"/>
            <a:ext cx="3902567" cy="1270001"/>
          </a:xfrm>
          <a:prstGeom prst="rect">
            <a:avLst/>
          </a:prstGeom>
          <a:solidFill>
            <a:schemeClr val="accent3">
              <a:hueOff val="362282"/>
              <a:satOff val="31803"/>
              <a:lumOff val="-18242"/>
              <a:alpha val="33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0" name="Rectangle"/>
          <p:cNvSpPr/>
          <p:nvPr/>
        </p:nvSpPr>
        <p:spPr>
          <a:xfrm>
            <a:off x="18966409" y="4511184"/>
            <a:ext cx="1295272" cy="980271"/>
          </a:xfrm>
          <a:prstGeom prst="rect">
            <a:avLst/>
          </a:prstGeom>
          <a:solidFill>
            <a:schemeClr val="accent3">
              <a:hueOff val="362282"/>
              <a:satOff val="31803"/>
              <a:lumOff val="-18242"/>
              <a:alpha val="33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28128" t="0" r="35254" b="0"/>
          <a:stretch>
            <a:fillRect/>
          </a:stretch>
        </p:blipFill>
        <p:spPr>
          <a:xfrm>
            <a:off x="18099904" y="4626440"/>
            <a:ext cx="5633867" cy="6358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353" name="Screenshot 2025-10-30 at 23.42.41.png" descr="Screenshot 2025-10-30 at 23.42.4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63367" y="4156936"/>
            <a:ext cx="10319507" cy="7297596"/>
          </a:xfrm>
          <a:prstGeom prst="rect">
            <a:avLst/>
          </a:prstGeom>
          <a:ln w="12700">
            <a:miter lim="400000"/>
          </a:ln>
        </p:spPr>
      </p:pic>
      <p:sp>
        <p:nvSpPr>
          <p:cNvPr id="354" name="RNN-Transducer"/>
          <p:cNvSpPr txBox="1"/>
          <p:nvPr>
            <p:ph type="title"/>
          </p:nvPr>
        </p:nvSpPr>
        <p:spPr>
          <a:xfrm>
            <a:off x="1206500" y="952500"/>
            <a:ext cx="10537946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sp>
        <p:nvSpPr>
          <p:cNvPr id="355" name="Rectangle"/>
          <p:cNvSpPr/>
          <p:nvPr/>
        </p:nvSpPr>
        <p:spPr>
          <a:xfrm>
            <a:off x="7386364" y="10322545"/>
            <a:ext cx="1960818" cy="19792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6" name="Rectangle"/>
          <p:cNvSpPr/>
          <p:nvPr/>
        </p:nvSpPr>
        <p:spPr>
          <a:xfrm>
            <a:off x="6814546" y="3814442"/>
            <a:ext cx="5945582" cy="8835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357" name="Screenshot 2025-10-18 at 14.22.05.png" descr="Screenshot 2025-10-18 at 14.22.05.png"/>
          <p:cNvPicPr>
            <a:picLocks noChangeAspect="1"/>
          </p:cNvPicPr>
          <p:nvPr/>
        </p:nvPicPr>
        <p:blipFill>
          <a:blip r:embed="rId4">
            <a:extLst/>
          </a:blip>
          <a:srcRect l="27019" t="0" r="428" b="0"/>
          <a:stretch>
            <a:fillRect/>
          </a:stretch>
        </p:blipFill>
        <p:spPr>
          <a:xfrm>
            <a:off x="1265409" y="3942029"/>
            <a:ext cx="5431700" cy="7727512"/>
          </a:xfrm>
          <a:prstGeom prst="rect">
            <a:avLst/>
          </a:prstGeom>
          <a:ln w="12700">
            <a:miter lim="400000"/>
          </a:ln>
        </p:spPr>
      </p:pic>
      <p:sp>
        <p:nvSpPr>
          <p:cNvPr id="358" name="Rectangle"/>
          <p:cNvSpPr/>
          <p:nvPr/>
        </p:nvSpPr>
        <p:spPr>
          <a:xfrm>
            <a:off x="1248895" y="3853320"/>
            <a:ext cx="5230975" cy="1270001"/>
          </a:xfrm>
          <a:prstGeom prst="rect">
            <a:avLst/>
          </a:prstGeom>
          <a:solidFill>
            <a:schemeClr val="accent3">
              <a:hueOff val="362282"/>
              <a:satOff val="31803"/>
              <a:lumOff val="-18242"/>
              <a:alpha val="33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9" name="Rectangle"/>
          <p:cNvSpPr/>
          <p:nvPr/>
        </p:nvSpPr>
        <p:spPr>
          <a:xfrm>
            <a:off x="12877633" y="4217288"/>
            <a:ext cx="3902567" cy="1270001"/>
          </a:xfrm>
          <a:prstGeom prst="rect">
            <a:avLst/>
          </a:prstGeom>
          <a:solidFill>
            <a:schemeClr val="accent3">
              <a:hueOff val="362282"/>
              <a:satOff val="31803"/>
              <a:lumOff val="-18242"/>
              <a:alpha val="33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0" name="Rectangle"/>
          <p:cNvSpPr/>
          <p:nvPr/>
        </p:nvSpPr>
        <p:spPr>
          <a:xfrm>
            <a:off x="18966409" y="4511184"/>
            <a:ext cx="1295272" cy="980271"/>
          </a:xfrm>
          <a:prstGeom prst="rect">
            <a:avLst/>
          </a:prstGeom>
          <a:solidFill>
            <a:schemeClr val="accent3">
              <a:hueOff val="362282"/>
              <a:satOff val="31803"/>
              <a:lumOff val="-18242"/>
              <a:alpha val="33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1" name="вероятность следующего токена"/>
          <p:cNvSpPr txBox="1"/>
          <p:nvPr/>
        </p:nvSpPr>
        <p:spPr>
          <a:xfrm>
            <a:off x="9182872" y="2777376"/>
            <a:ext cx="7601865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i="1" sz="3600">
                <a:solidFill>
                  <a:srgbClr val="000000"/>
                </a:solidFill>
              </a:defRPr>
            </a:lvl1pPr>
          </a:lstStyle>
          <a:p>
            <a:pPr/>
            <a:r>
              <a:t>вероятность следующего токена</a:t>
            </a:r>
          </a:p>
        </p:txBody>
      </p:sp>
      <p:sp>
        <p:nvSpPr>
          <p:cNvPr id="362" name="Line"/>
          <p:cNvSpPr/>
          <p:nvPr/>
        </p:nvSpPr>
        <p:spPr>
          <a:xfrm flipV="1">
            <a:off x="6320008" y="3514487"/>
            <a:ext cx="3304038" cy="532890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3" name="Line"/>
          <p:cNvSpPr/>
          <p:nvPr/>
        </p:nvSpPr>
        <p:spPr>
          <a:xfrm flipH="1" flipV="1">
            <a:off x="10753345" y="3466745"/>
            <a:ext cx="2290074" cy="821998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4" name="Line"/>
          <p:cNvSpPr/>
          <p:nvPr/>
        </p:nvSpPr>
        <p:spPr>
          <a:xfrm flipH="1" flipV="1">
            <a:off x="11540557" y="3516744"/>
            <a:ext cx="7596732" cy="1152724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5" name="Rectangle"/>
          <p:cNvSpPr/>
          <p:nvPr/>
        </p:nvSpPr>
        <p:spPr>
          <a:xfrm>
            <a:off x="9155299" y="2914104"/>
            <a:ext cx="2974773" cy="486495"/>
          </a:xfrm>
          <a:prstGeom prst="rect">
            <a:avLst/>
          </a:prstGeom>
          <a:ln w="635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rcRect l="47754" t="0" r="0" b="0"/>
          <a:stretch>
            <a:fillRect/>
          </a:stretch>
        </p:blipFill>
        <p:spPr>
          <a:xfrm>
            <a:off x="-8438" y="3351312"/>
            <a:ext cx="6537263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368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rcRect l="47754" t="0" r="0" b="0"/>
          <a:stretch>
            <a:fillRect/>
          </a:stretch>
        </p:blipFill>
        <p:spPr>
          <a:xfrm>
            <a:off x="-8438" y="3351312"/>
            <a:ext cx="6537263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371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pic>
        <p:nvPicPr>
          <p:cNvPr id="372" name="Image" descr="Image"/>
          <p:cNvPicPr>
            <a:picLocks noChangeAspect="1"/>
          </p:cNvPicPr>
          <p:nvPr/>
        </p:nvPicPr>
        <p:blipFill>
          <a:blip r:embed="rId3">
            <a:extLst/>
          </a:blip>
          <a:srcRect l="50810" t="9305" r="4494" b="6582"/>
          <a:stretch>
            <a:fillRect/>
          </a:stretch>
        </p:blipFill>
        <p:spPr>
          <a:xfrm>
            <a:off x="11704617" y="2227326"/>
            <a:ext cx="9758077" cy="9665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rcRect l="47754" t="0" r="0" b="0"/>
          <a:stretch>
            <a:fillRect/>
          </a:stretch>
        </p:blipFill>
        <p:spPr>
          <a:xfrm>
            <a:off x="-8438" y="3351312"/>
            <a:ext cx="6537263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375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sp>
        <p:nvSpPr>
          <p:cNvPr id="376" name="Beam search"/>
          <p:cNvSpPr/>
          <p:nvPr/>
        </p:nvSpPr>
        <p:spPr>
          <a:xfrm>
            <a:off x="7367110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Beam search</a:t>
            </a:r>
          </a:p>
        </p:txBody>
      </p:sp>
      <p:sp>
        <p:nvSpPr>
          <p:cNvPr id="377" name="Line"/>
          <p:cNvSpPr/>
          <p:nvPr/>
        </p:nvSpPr>
        <p:spPr>
          <a:xfrm flipV="1">
            <a:off x="5566153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rcRect l="47754" t="0" r="0" b="0"/>
          <a:stretch>
            <a:fillRect/>
          </a:stretch>
        </p:blipFill>
        <p:spPr>
          <a:xfrm>
            <a:off x="-8438" y="3351312"/>
            <a:ext cx="6537263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380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sp>
        <p:nvSpPr>
          <p:cNvPr id="381" name="Beam search"/>
          <p:cNvSpPr/>
          <p:nvPr/>
        </p:nvSpPr>
        <p:spPr>
          <a:xfrm>
            <a:off x="7367110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Beam search</a:t>
            </a:r>
          </a:p>
        </p:txBody>
      </p:sp>
      <p:sp>
        <p:nvSpPr>
          <p:cNvPr id="382" name="Line"/>
          <p:cNvSpPr/>
          <p:nvPr/>
        </p:nvSpPr>
        <p:spPr>
          <a:xfrm flipV="1">
            <a:off x="5566153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83" name="Адаптация может происходить на уровне  пересчёта скоров в лучах  и на уровне реранкинга итоговых последовательной"/>
          <p:cNvSpPr txBox="1"/>
          <p:nvPr/>
        </p:nvSpPr>
        <p:spPr>
          <a:xfrm>
            <a:off x="7443271" y="6817388"/>
            <a:ext cx="16980646" cy="1916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Адаптация может происходить на уровне </a:t>
            </a:r>
            <a:br/>
            <a:r>
              <a:t>пересчёта скоров в лучах </a:t>
            </a:r>
            <a:br/>
            <a:r>
              <a:t>и на уровне реранкинга итоговых последовательной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rcRect l="47754" t="0" r="0" b="0"/>
          <a:stretch>
            <a:fillRect/>
          </a:stretch>
        </p:blipFill>
        <p:spPr>
          <a:xfrm>
            <a:off x="-8438" y="3351312"/>
            <a:ext cx="6537263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386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sp>
        <p:nvSpPr>
          <p:cNvPr id="387" name="Beam search"/>
          <p:cNvSpPr/>
          <p:nvPr/>
        </p:nvSpPr>
        <p:spPr>
          <a:xfrm>
            <a:off x="7367110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Beam search</a:t>
            </a:r>
          </a:p>
        </p:txBody>
      </p:sp>
      <p:sp>
        <p:nvSpPr>
          <p:cNvPr id="388" name="Line"/>
          <p:cNvSpPr/>
          <p:nvPr/>
        </p:nvSpPr>
        <p:spPr>
          <a:xfrm flipV="1">
            <a:off x="5566153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89" name="Адаптация может происходить на уровне  пересчёта скоров в лучах  и на уровне реранкинга итоговых последовательной"/>
          <p:cNvSpPr txBox="1"/>
          <p:nvPr/>
        </p:nvSpPr>
        <p:spPr>
          <a:xfrm>
            <a:off x="7443271" y="6811294"/>
            <a:ext cx="16980646" cy="1928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Адаптация может происходить на уровне </a:t>
            </a:r>
            <a:br/>
            <a:r>
              <a:t>пересчёта скоров в лучах </a:t>
            </a:r>
            <a:br/>
            <a:r>
              <a:t>и на уровне </a:t>
            </a:r>
            <a:r>
              <a:rPr b="1">
                <a:solidFill>
                  <a:schemeClr val="accent3">
                    <a:hueOff val="914338"/>
                    <a:satOff val="31515"/>
                    <a:lumOff val="-30790"/>
                  </a:schemeClr>
                </a:solidFill>
              </a:rPr>
              <a:t>реранкинга итоговых последовательной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rcRect l="47754" t="0" r="0" b="0"/>
          <a:stretch>
            <a:fillRect/>
          </a:stretch>
        </p:blipFill>
        <p:spPr>
          <a:xfrm>
            <a:off x="-8438" y="3351312"/>
            <a:ext cx="6537263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392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sp>
        <p:nvSpPr>
          <p:cNvPr id="393" name="Beam search"/>
          <p:cNvSpPr/>
          <p:nvPr/>
        </p:nvSpPr>
        <p:spPr>
          <a:xfrm>
            <a:off x="7367110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Beam search</a:t>
            </a:r>
          </a:p>
        </p:txBody>
      </p:sp>
      <p:sp>
        <p:nvSpPr>
          <p:cNvPr id="394" name="Line"/>
          <p:cNvSpPr/>
          <p:nvPr/>
        </p:nvSpPr>
        <p:spPr>
          <a:xfrm flipV="1">
            <a:off x="5566153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95" name="N hypothesis"/>
          <p:cNvSpPr/>
          <p:nvPr/>
        </p:nvSpPr>
        <p:spPr>
          <a:xfrm>
            <a:off x="12862547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 hypothesis</a:t>
            </a:r>
          </a:p>
        </p:txBody>
      </p:sp>
      <p:sp>
        <p:nvSpPr>
          <p:cNvPr id="396" name="Line"/>
          <p:cNvSpPr/>
          <p:nvPr/>
        </p:nvSpPr>
        <p:spPr>
          <a:xfrm flipV="1">
            <a:off x="11061589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97" name="Адаптация может происходить на уровне  пересчёта скоров в лучах  и на уровне реранкинга итоговых последовательной"/>
          <p:cNvSpPr txBox="1"/>
          <p:nvPr/>
        </p:nvSpPr>
        <p:spPr>
          <a:xfrm>
            <a:off x="7443271" y="6811294"/>
            <a:ext cx="16980646" cy="1928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Адаптация может происходить на уровне </a:t>
            </a:r>
            <a:br/>
            <a:r>
              <a:t>пересчёта скоров в лучах </a:t>
            </a:r>
            <a:br/>
            <a:r>
              <a:t>и на уровне </a:t>
            </a:r>
            <a:r>
              <a:rPr b="1">
                <a:solidFill>
                  <a:schemeClr val="accent3">
                    <a:hueOff val="914338"/>
                    <a:satOff val="31515"/>
                    <a:lumOff val="-30790"/>
                  </a:schemeClr>
                </a:solidFill>
              </a:rPr>
              <a:t>реранкинга итоговых последовательной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rcRect l="47754" t="0" r="0" b="0"/>
          <a:stretch>
            <a:fillRect/>
          </a:stretch>
        </p:blipFill>
        <p:spPr>
          <a:xfrm>
            <a:off x="-8438" y="3351312"/>
            <a:ext cx="6537263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400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sp>
        <p:nvSpPr>
          <p:cNvPr id="401" name="Beam search"/>
          <p:cNvSpPr/>
          <p:nvPr/>
        </p:nvSpPr>
        <p:spPr>
          <a:xfrm>
            <a:off x="7367110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Beam search</a:t>
            </a:r>
          </a:p>
        </p:txBody>
      </p:sp>
      <p:sp>
        <p:nvSpPr>
          <p:cNvPr id="402" name="Line"/>
          <p:cNvSpPr/>
          <p:nvPr/>
        </p:nvSpPr>
        <p:spPr>
          <a:xfrm flipV="1">
            <a:off x="5566153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03" name="N hypothesis"/>
          <p:cNvSpPr/>
          <p:nvPr/>
        </p:nvSpPr>
        <p:spPr>
          <a:xfrm>
            <a:off x="12862547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 hypothesis</a:t>
            </a:r>
          </a:p>
        </p:txBody>
      </p:sp>
      <p:sp>
        <p:nvSpPr>
          <p:cNvPr id="404" name="Line"/>
          <p:cNvSpPr/>
          <p:nvPr/>
        </p:nvSpPr>
        <p:spPr>
          <a:xfrm flipV="1">
            <a:off x="11061589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05" name="Адаптация может происходить на уровне  пересчёта скоров в лучах  и на уровне реранкинга итоговых последовательной"/>
          <p:cNvSpPr txBox="1"/>
          <p:nvPr/>
        </p:nvSpPr>
        <p:spPr>
          <a:xfrm>
            <a:off x="7443271" y="6811294"/>
            <a:ext cx="14002075" cy="1928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Адаптация может происходить на уровне </a:t>
            </a:r>
            <a:br/>
            <a:r>
              <a:t>пересчёта скоров в лучах </a:t>
            </a:r>
            <a:br/>
            <a:r>
              <a:t>и на уровне </a:t>
            </a:r>
            <a:r>
              <a:rPr b="1">
                <a:solidFill>
                  <a:schemeClr val="accent3">
                    <a:hueOff val="914338"/>
                    <a:satOff val="31515"/>
                    <a:lumOff val="-30790"/>
                  </a:schemeClr>
                </a:solidFill>
              </a:rPr>
              <a:t>реранкинга итоговых последовательной</a:t>
            </a:r>
          </a:p>
        </p:txBody>
      </p:sp>
      <p:sp>
        <p:nvSpPr>
          <p:cNvPr id="406" name="Line"/>
          <p:cNvSpPr/>
          <p:nvPr/>
        </p:nvSpPr>
        <p:spPr>
          <a:xfrm flipV="1">
            <a:off x="16557026" y="3848506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07" name="OracleWER"/>
          <p:cNvSpPr txBox="1"/>
          <p:nvPr/>
        </p:nvSpPr>
        <p:spPr>
          <a:xfrm>
            <a:off x="18319883" y="3562096"/>
            <a:ext cx="2206449" cy="572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>
                <a:solidFill>
                  <a:srgbClr val="000000"/>
                </a:solidFill>
              </a:defRPr>
            </a:lvl1pPr>
          </a:lstStyle>
          <a:p>
            <a:pPr/>
            <a:r>
              <a:t>OracleWER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Screenshot 2025-11-03 at 15.35.49.png" descr="Screenshot 2025-11-03 at 15.35.4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47951" y="2681463"/>
            <a:ext cx="15488098" cy="10749531"/>
          </a:xfrm>
          <a:prstGeom prst="rect">
            <a:avLst/>
          </a:prstGeom>
          <a:ln w="12700">
            <a:miter lim="400000"/>
          </a:ln>
        </p:spPr>
      </p:pic>
      <p:sp>
        <p:nvSpPr>
          <p:cNvPr id="410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rcRect l="47754" t="0" r="0" b="0"/>
          <a:stretch>
            <a:fillRect/>
          </a:stretch>
        </p:blipFill>
        <p:spPr>
          <a:xfrm>
            <a:off x="-8438" y="3351312"/>
            <a:ext cx="6537263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413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sp>
        <p:nvSpPr>
          <p:cNvPr id="414" name="Beam search"/>
          <p:cNvSpPr/>
          <p:nvPr/>
        </p:nvSpPr>
        <p:spPr>
          <a:xfrm>
            <a:off x="7367110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Beam search</a:t>
            </a:r>
          </a:p>
        </p:txBody>
      </p:sp>
      <p:sp>
        <p:nvSpPr>
          <p:cNvPr id="415" name="Line"/>
          <p:cNvSpPr/>
          <p:nvPr/>
        </p:nvSpPr>
        <p:spPr>
          <a:xfrm flipV="1">
            <a:off x="5566153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6" name="N hypothesis"/>
          <p:cNvSpPr/>
          <p:nvPr/>
        </p:nvSpPr>
        <p:spPr>
          <a:xfrm>
            <a:off x="12862547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 hypothesis</a:t>
            </a:r>
          </a:p>
        </p:txBody>
      </p:sp>
      <p:sp>
        <p:nvSpPr>
          <p:cNvPr id="417" name="Line"/>
          <p:cNvSpPr/>
          <p:nvPr/>
        </p:nvSpPr>
        <p:spPr>
          <a:xfrm flipV="1">
            <a:off x="11061589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8" name="Адаптация может происходить на уровне  пересчёта скоров в лучах  и на уровне реранкинга итоговых последовательной"/>
          <p:cNvSpPr txBox="1"/>
          <p:nvPr/>
        </p:nvSpPr>
        <p:spPr>
          <a:xfrm>
            <a:off x="7443271" y="6811294"/>
            <a:ext cx="14002075" cy="1928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Адаптация может происходить на уровне </a:t>
            </a:r>
            <a:br/>
            <a:r>
              <a:t>пересчёта скоров в лучах </a:t>
            </a:r>
            <a:br/>
            <a:r>
              <a:t>и на уровне </a:t>
            </a:r>
            <a:r>
              <a:rPr b="1">
                <a:solidFill>
                  <a:schemeClr val="accent3">
                    <a:hueOff val="914338"/>
                    <a:satOff val="31515"/>
                    <a:lumOff val="-30790"/>
                  </a:schemeClr>
                </a:solidFill>
              </a:rPr>
              <a:t>реранкинга итоговых последовательной</a:t>
            </a:r>
          </a:p>
        </p:txBody>
      </p:sp>
      <p:sp>
        <p:nvSpPr>
          <p:cNvPr id="419" name="Line"/>
          <p:cNvSpPr/>
          <p:nvPr/>
        </p:nvSpPr>
        <p:spPr>
          <a:xfrm flipV="1">
            <a:off x="16557026" y="3848506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20" name="OracleWER"/>
          <p:cNvSpPr txBox="1"/>
          <p:nvPr/>
        </p:nvSpPr>
        <p:spPr>
          <a:xfrm>
            <a:off x="18319883" y="3562096"/>
            <a:ext cx="2206449" cy="572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>
                <a:solidFill>
                  <a:srgbClr val="000000"/>
                </a:solidFill>
              </a:defRPr>
            </a:lvl1pPr>
          </a:lstStyle>
          <a:p>
            <a:pPr/>
            <a:r>
              <a:t>OracleWER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rcRect l="47754" t="0" r="0" b="0"/>
          <a:stretch>
            <a:fillRect/>
          </a:stretch>
        </p:blipFill>
        <p:spPr>
          <a:xfrm>
            <a:off x="-8438" y="3351312"/>
            <a:ext cx="6537263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423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sp>
        <p:nvSpPr>
          <p:cNvPr id="424" name="Beam search"/>
          <p:cNvSpPr/>
          <p:nvPr/>
        </p:nvSpPr>
        <p:spPr>
          <a:xfrm>
            <a:off x="7367110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Beam search</a:t>
            </a:r>
          </a:p>
        </p:txBody>
      </p:sp>
      <p:sp>
        <p:nvSpPr>
          <p:cNvPr id="425" name="Line"/>
          <p:cNvSpPr/>
          <p:nvPr/>
        </p:nvSpPr>
        <p:spPr>
          <a:xfrm flipV="1">
            <a:off x="5566153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26" name="N hypothesis"/>
          <p:cNvSpPr/>
          <p:nvPr/>
        </p:nvSpPr>
        <p:spPr>
          <a:xfrm>
            <a:off x="12862547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 hypothesis</a:t>
            </a:r>
          </a:p>
        </p:txBody>
      </p:sp>
      <p:sp>
        <p:nvSpPr>
          <p:cNvPr id="427" name="Line"/>
          <p:cNvSpPr/>
          <p:nvPr/>
        </p:nvSpPr>
        <p:spPr>
          <a:xfrm flipV="1">
            <a:off x="11061589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28" name="Rescoring LM"/>
          <p:cNvSpPr/>
          <p:nvPr/>
        </p:nvSpPr>
        <p:spPr>
          <a:xfrm>
            <a:off x="18357983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Rescoring LM</a:t>
            </a:r>
          </a:p>
        </p:txBody>
      </p:sp>
      <p:sp>
        <p:nvSpPr>
          <p:cNvPr id="429" name="Line"/>
          <p:cNvSpPr/>
          <p:nvPr/>
        </p:nvSpPr>
        <p:spPr>
          <a:xfrm flipV="1">
            <a:off x="16557026" y="3848506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30" name="Адаптация может происходить на уровне  пересчёта скоров в лучах  и на уровне реранкинга итоговых последовательной"/>
          <p:cNvSpPr txBox="1"/>
          <p:nvPr/>
        </p:nvSpPr>
        <p:spPr>
          <a:xfrm>
            <a:off x="7443271" y="6811294"/>
            <a:ext cx="16980646" cy="1928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Адаптация может происходить на уровне </a:t>
            </a:r>
            <a:br/>
            <a:r>
              <a:t>пересчёта скоров в лучах </a:t>
            </a:r>
            <a:br/>
            <a:r>
              <a:t>и на уровне </a:t>
            </a:r>
            <a:r>
              <a:rPr b="1">
                <a:solidFill>
                  <a:schemeClr val="accent3">
                    <a:hueOff val="914338"/>
                    <a:satOff val="31515"/>
                    <a:lumOff val="-30790"/>
                  </a:schemeClr>
                </a:solidFill>
              </a:rPr>
              <a:t>реранкинга итоговых последовательной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rcRect l="47754" t="0" r="0" b="0"/>
          <a:stretch>
            <a:fillRect/>
          </a:stretch>
        </p:blipFill>
        <p:spPr>
          <a:xfrm>
            <a:off x="-8438" y="3351312"/>
            <a:ext cx="6537263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433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sp>
        <p:nvSpPr>
          <p:cNvPr id="434" name="Beam search"/>
          <p:cNvSpPr/>
          <p:nvPr/>
        </p:nvSpPr>
        <p:spPr>
          <a:xfrm>
            <a:off x="7367110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Beam search</a:t>
            </a:r>
          </a:p>
        </p:txBody>
      </p:sp>
      <p:sp>
        <p:nvSpPr>
          <p:cNvPr id="435" name="Line"/>
          <p:cNvSpPr/>
          <p:nvPr/>
        </p:nvSpPr>
        <p:spPr>
          <a:xfrm flipV="1">
            <a:off x="5566153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36" name="N hypothesis"/>
          <p:cNvSpPr/>
          <p:nvPr/>
        </p:nvSpPr>
        <p:spPr>
          <a:xfrm>
            <a:off x="12862547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 hypothesis</a:t>
            </a:r>
          </a:p>
        </p:txBody>
      </p:sp>
      <p:sp>
        <p:nvSpPr>
          <p:cNvPr id="437" name="Line"/>
          <p:cNvSpPr/>
          <p:nvPr/>
        </p:nvSpPr>
        <p:spPr>
          <a:xfrm flipV="1">
            <a:off x="11061589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38" name="Rescoring LM"/>
          <p:cNvSpPr/>
          <p:nvPr/>
        </p:nvSpPr>
        <p:spPr>
          <a:xfrm>
            <a:off x="18357983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Rescoring LM</a:t>
            </a:r>
          </a:p>
        </p:txBody>
      </p:sp>
      <p:sp>
        <p:nvSpPr>
          <p:cNvPr id="439" name="Line"/>
          <p:cNvSpPr/>
          <p:nvPr/>
        </p:nvSpPr>
        <p:spPr>
          <a:xfrm flipV="1">
            <a:off x="16557026" y="3848506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40" name="двунаправленная"/>
          <p:cNvSpPr txBox="1"/>
          <p:nvPr/>
        </p:nvSpPr>
        <p:spPr>
          <a:xfrm>
            <a:off x="18536983" y="4548819"/>
            <a:ext cx="3133111" cy="498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i="1" sz="2600">
                <a:solidFill>
                  <a:srgbClr val="000000"/>
                </a:solidFill>
              </a:defRPr>
            </a:lvl1pPr>
          </a:lstStyle>
          <a:p>
            <a:pPr/>
            <a:r>
              <a:t>двунаправленная</a:t>
            </a:r>
          </a:p>
        </p:txBody>
      </p:sp>
      <p:sp>
        <p:nvSpPr>
          <p:cNvPr id="441" name="Адаптация может происходить на уровне  пересчёта скоров в лучах  и на уровне реранкинга итоговых последовательной"/>
          <p:cNvSpPr txBox="1"/>
          <p:nvPr/>
        </p:nvSpPr>
        <p:spPr>
          <a:xfrm>
            <a:off x="7443271" y="6811294"/>
            <a:ext cx="16980646" cy="1928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Адаптация может происходить на уровне </a:t>
            </a:r>
            <a:br/>
            <a:r>
              <a:t>пересчёта скоров в лучах </a:t>
            </a:r>
            <a:br/>
            <a:r>
              <a:t>и на уровне </a:t>
            </a:r>
            <a:r>
              <a:rPr b="1">
                <a:solidFill>
                  <a:schemeClr val="accent3">
                    <a:hueOff val="914338"/>
                    <a:satOff val="31515"/>
                    <a:lumOff val="-30790"/>
                  </a:schemeClr>
                </a:solidFill>
              </a:rPr>
              <a:t>реранкинга итоговых последовательной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rcRect l="47754" t="0" r="0" b="0"/>
          <a:stretch>
            <a:fillRect/>
          </a:stretch>
        </p:blipFill>
        <p:spPr>
          <a:xfrm>
            <a:off x="-8438" y="3351312"/>
            <a:ext cx="6537263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444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sp>
        <p:nvSpPr>
          <p:cNvPr id="445" name="Beam search"/>
          <p:cNvSpPr/>
          <p:nvPr/>
        </p:nvSpPr>
        <p:spPr>
          <a:xfrm>
            <a:off x="7367110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Beam search</a:t>
            </a:r>
          </a:p>
        </p:txBody>
      </p:sp>
      <p:sp>
        <p:nvSpPr>
          <p:cNvPr id="446" name="Line"/>
          <p:cNvSpPr/>
          <p:nvPr/>
        </p:nvSpPr>
        <p:spPr>
          <a:xfrm flipV="1">
            <a:off x="5566153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47" name="N hypothesis"/>
          <p:cNvSpPr/>
          <p:nvPr/>
        </p:nvSpPr>
        <p:spPr>
          <a:xfrm>
            <a:off x="12862547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 hypothesis</a:t>
            </a:r>
          </a:p>
        </p:txBody>
      </p:sp>
      <p:sp>
        <p:nvSpPr>
          <p:cNvPr id="448" name="Line"/>
          <p:cNvSpPr/>
          <p:nvPr/>
        </p:nvSpPr>
        <p:spPr>
          <a:xfrm flipV="1">
            <a:off x="11061589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49" name="Адаптация может происходить на уровне  пересчёта скоров в лучах  и на уровне реранкинга итоговых последовательной"/>
          <p:cNvSpPr txBox="1"/>
          <p:nvPr/>
        </p:nvSpPr>
        <p:spPr>
          <a:xfrm>
            <a:off x="7443271" y="6811294"/>
            <a:ext cx="16980646" cy="1928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Адаптация может происходить на уровне </a:t>
            </a:r>
            <a:br/>
            <a:r>
              <a:t>пересчёта скоров в лучах </a:t>
            </a:r>
            <a:br/>
            <a:r>
              <a:t>и на уровне </a:t>
            </a:r>
            <a:r>
              <a:rPr b="1">
                <a:solidFill>
                  <a:schemeClr val="accent3">
                    <a:hueOff val="914338"/>
                    <a:satOff val="31515"/>
                    <a:lumOff val="-30790"/>
                  </a:schemeClr>
                </a:solidFill>
              </a:rPr>
              <a:t>реранкинга итоговых последовательной</a:t>
            </a:r>
          </a:p>
        </p:txBody>
      </p:sp>
      <p:sp>
        <p:nvSpPr>
          <p:cNvPr id="450" name="Rescoring LM"/>
          <p:cNvSpPr/>
          <p:nvPr/>
        </p:nvSpPr>
        <p:spPr>
          <a:xfrm>
            <a:off x="18357983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Rescoring LM</a:t>
            </a:r>
          </a:p>
        </p:txBody>
      </p:sp>
      <p:sp>
        <p:nvSpPr>
          <p:cNvPr id="451" name="Line"/>
          <p:cNvSpPr/>
          <p:nvPr/>
        </p:nvSpPr>
        <p:spPr>
          <a:xfrm flipV="1">
            <a:off x="16557026" y="3848506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52" name="двунаправленная"/>
          <p:cNvSpPr txBox="1"/>
          <p:nvPr/>
        </p:nvSpPr>
        <p:spPr>
          <a:xfrm>
            <a:off x="18536983" y="4548819"/>
            <a:ext cx="3133111" cy="498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i="1" sz="2600">
                <a:solidFill>
                  <a:srgbClr val="000000"/>
                </a:solidFill>
              </a:defRPr>
            </a:lvl1pPr>
          </a:lstStyle>
          <a:p>
            <a:pPr/>
            <a:r>
              <a:t>двунаправленная</a:t>
            </a:r>
          </a:p>
        </p:txBody>
      </p:sp>
      <p:sp>
        <p:nvSpPr>
          <p:cNvPr id="453" name="Final text"/>
          <p:cNvSpPr/>
          <p:nvPr/>
        </p:nvSpPr>
        <p:spPr>
          <a:xfrm>
            <a:off x="18357983" y="6554754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Final text</a:t>
            </a:r>
          </a:p>
        </p:txBody>
      </p:sp>
      <p:sp>
        <p:nvSpPr>
          <p:cNvPr id="454" name="Line"/>
          <p:cNvSpPr/>
          <p:nvPr/>
        </p:nvSpPr>
        <p:spPr>
          <a:xfrm>
            <a:off x="19939744" y="5147114"/>
            <a:ext cx="1" cy="127000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rcRect l="47754" t="0" r="0" b="0"/>
          <a:stretch>
            <a:fillRect/>
          </a:stretch>
        </p:blipFill>
        <p:spPr>
          <a:xfrm>
            <a:off x="-8438" y="3351312"/>
            <a:ext cx="6537263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457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sp>
        <p:nvSpPr>
          <p:cNvPr id="458" name="Beam search"/>
          <p:cNvSpPr/>
          <p:nvPr/>
        </p:nvSpPr>
        <p:spPr>
          <a:xfrm>
            <a:off x="7367110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Beam search</a:t>
            </a:r>
          </a:p>
        </p:txBody>
      </p:sp>
      <p:sp>
        <p:nvSpPr>
          <p:cNvPr id="459" name="Line"/>
          <p:cNvSpPr/>
          <p:nvPr/>
        </p:nvSpPr>
        <p:spPr>
          <a:xfrm flipV="1">
            <a:off x="5566153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60" name="Адаптация может происходить на уровне  пересчёта скоров в лучах  и на уровне реранкинга итоговых последовательной"/>
          <p:cNvSpPr txBox="1"/>
          <p:nvPr/>
        </p:nvSpPr>
        <p:spPr>
          <a:xfrm>
            <a:off x="7443271" y="6817388"/>
            <a:ext cx="16980646" cy="1916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Адаптация может происходить на уровне </a:t>
            </a:r>
            <a:br/>
            <a:r>
              <a:t>пересчёта скоров в лучах </a:t>
            </a:r>
            <a:br/>
            <a:r>
              <a:t>и на уровне реранкинга итоговых последовательной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rcRect l="47754" t="0" r="0" b="0"/>
          <a:stretch>
            <a:fillRect/>
          </a:stretch>
        </p:blipFill>
        <p:spPr>
          <a:xfrm>
            <a:off x="-8438" y="3351312"/>
            <a:ext cx="6537263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463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sp>
        <p:nvSpPr>
          <p:cNvPr id="464" name="Beam search"/>
          <p:cNvSpPr/>
          <p:nvPr/>
        </p:nvSpPr>
        <p:spPr>
          <a:xfrm>
            <a:off x="7367110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Beam search</a:t>
            </a:r>
          </a:p>
        </p:txBody>
      </p:sp>
      <p:sp>
        <p:nvSpPr>
          <p:cNvPr id="465" name="Line"/>
          <p:cNvSpPr/>
          <p:nvPr/>
        </p:nvSpPr>
        <p:spPr>
          <a:xfrm flipV="1">
            <a:off x="5566153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66" name="Адаптация может происходить на уровне  пересчёта скоров в лучах  и на уровне реранкинга итоговых последовательной"/>
          <p:cNvSpPr txBox="1"/>
          <p:nvPr/>
        </p:nvSpPr>
        <p:spPr>
          <a:xfrm>
            <a:off x="7443271" y="6811038"/>
            <a:ext cx="16980646" cy="192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Адаптация может происходить на уровне </a:t>
            </a:r>
            <a:br/>
            <a:r>
              <a:rPr b="1">
                <a:solidFill>
                  <a:schemeClr val="accent3">
                    <a:hueOff val="914338"/>
                    <a:satOff val="31515"/>
                    <a:lumOff val="-30790"/>
                  </a:schemeClr>
                </a:solidFill>
              </a:rPr>
              <a:t>пересчёта скоров в лучах</a:t>
            </a:r>
            <a:r>
              <a:t> </a:t>
            </a:r>
            <a:br/>
            <a:r>
              <a:t>и на уровне реранкинга итоговых последовательной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rcRect l="47754" t="0" r="0" b="0"/>
          <a:stretch>
            <a:fillRect/>
          </a:stretch>
        </p:blipFill>
        <p:spPr>
          <a:xfrm>
            <a:off x="-8438" y="3351312"/>
            <a:ext cx="6537263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sp>
        <p:nvSpPr>
          <p:cNvPr id="470" name="Beam search"/>
          <p:cNvSpPr/>
          <p:nvPr/>
        </p:nvSpPr>
        <p:spPr>
          <a:xfrm>
            <a:off x="7367110" y="3213507"/>
            <a:ext cx="3163523" cy="1852677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Beam search</a:t>
            </a:r>
          </a:p>
        </p:txBody>
      </p:sp>
      <p:sp>
        <p:nvSpPr>
          <p:cNvPr id="471" name="Line"/>
          <p:cNvSpPr/>
          <p:nvPr/>
        </p:nvSpPr>
        <p:spPr>
          <a:xfrm flipV="1">
            <a:off x="5566153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72" name="Адаптация может происходить на уровне  пересчёта скоров в лучах  и на уровне реранкинга итоговых последовательной"/>
          <p:cNvSpPr txBox="1"/>
          <p:nvPr/>
        </p:nvSpPr>
        <p:spPr>
          <a:xfrm>
            <a:off x="7443271" y="6811038"/>
            <a:ext cx="16980646" cy="192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Адаптация может происходить на уровне </a:t>
            </a:r>
            <a:br/>
            <a:r>
              <a:rPr b="1">
                <a:solidFill>
                  <a:schemeClr val="accent3">
                    <a:hueOff val="914338"/>
                    <a:satOff val="31515"/>
                    <a:lumOff val="-30790"/>
                  </a:schemeClr>
                </a:solidFill>
              </a:rPr>
              <a:t>пересчёта скоров в лучах</a:t>
            </a:r>
            <a:r>
              <a:t> </a:t>
            </a:r>
            <a:br/>
            <a:r>
              <a:t>и на уровне реранкинга итоговых последовательной</a:t>
            </a:r>
          </a:p>
        </p:txBody>
      </p:sp>
      <p:sp>
        <p:nvSpPr>
          <p:cNvPr id="473" name="Rescoring LM"/>
          <p:cNvSpPr/>
          <p:nvPr/>
        </p:nvSpPr>
        <p:spPr>
          <a:xfrm>
            <a:off x="7536181" y="3948107"/>
            <a:ext cx="2825381" cy="932322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Rescoring LM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rcRect l="47754" t="0" r="0" b="0"/>
          <a:stretch>
            <a:fillRect/>
          </a:stretch>
        </p:blipFill>
        <p:spPr>
          <a:xfrm>
            <a:off x="-8438" y="3351312"/>
            <a:ext cx="6537263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sp>
        <p:nvSpPr>
          <p:cNvPr id="477" name="Beam search"/>
          <p:cNvSpPr/>
          <p:nvPr/>
        </p:nvSpPr>
        <p:spPr>
          <a:xfrm>
            <a:off x="7367110" y="3213507"/>
            <a:ext cx="3163523" cy="1852677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Beam search</a:t>
            </a:r>
          </a:p>
        </p:txBody>
      </p:sp>
      <p:sp>
        <p:nvSpPr>
          <p:cNvPr id="478" name="Line"/>
          <p:cNvSpPr/>
          <p:nvPr/>
        </p:nvSpPr>
        <p:spPr>
          <a:xfrm flipV="1">
            <a:off x="5566153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79" name="Адаптация может происходить на уровне  пересчёта скоров в лучах  и на уровне реранкинга итоговых последовательной"/>
          <p:cNvSpPr txBox="1"/>
          <p:nvPr/>
        </p:nvSpPr>
        <p:spPr>
          <a:xfrm>
            <a:off x="7443271" y="6811038"/>
            <a:ext cx="16980646" cy="192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Адаптация может происходить на уровне </a:t>
            </a:r>
            <a:br/>
            <a:r>
              <a:rPr b="1">
                <a:solidFill>
                  <a:schemeClr val="accent3">
                    <a:hueOff val="914338"/>
                    <a:satOff val="31515"/>
                    <a:lumOff val="-30790"/>
                  </a:schemeClr>
                </a:solidFill>
              </a:rPr>
              <a:t>пересчёта скоров в лучах</a:t>
            </a:r>
            <a:r>
              <a:t> </a:t>
            </a:r>
            <a:br/>
            <a:r>
              <a:t>и на уровне реранкинга итоговых последовательной</a:t>
            </a:r>
          </a:p>
        </p:txBody>
      </p:sp>
      <p:sp>
        <p:nvSpPr>
          <p:cNvPr id="480" name="Rescoring LM"/>
          <p:cNvSpPr/>
          <p:nvPr/>
        </p:nvSpPr>
        <p:spPr>
          <a:xfrm>
            <a:off x="7536181" y="3948107"/>
            <a:ext cx="2825381" cy="932322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Rescoring LM</a:t>
            </a:r>
          </a:p>
        </p:txBody>
      </p:sp>
      <p:sp>
        <p:nvSpPr>
          <p:cNvPr id="481" name="однонаправленная"/>
          <p:cNvSpPr txBox="1"/>
          <p:nvPr/>
        </p:nvSpPr>
        <p:spPr>
          <a:xfrm>
            <a:off x="7382316" y="5117542"/>
            <a:ext cx="3133111" cy="498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i="1" sz="2600">
                <a:solidFill>
                  <a:srgbClr val="000000"/>
                </a:solidFill>
              </a:defRPr>
            </a:lvl1pPr>
          </a:lstStyle>
          <a:p>
            <a:pPr/>
            <a:r>
              <a:t>однонаправленная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rcRect l="47754" t="0" r="0" b="0"/>
          <a:stretch>
            <a:fillRect/>
          </a:stretch>
        </p:blipFill>
        <p:spPr>
          <a:xfrm>
            <a:off x="-8438" y="3351312"/>
            <a:ext cx="6537263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484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sp>
        <p:nvSpPr>
          <p:cNvPr id="485" name="Beam search"/>
          <p:cNvSpPr/>
          <p:nvPr/>
        </p:nvSpPr>
        <p:spPr>
          <a:xfrm>
            <a:off x="7367110" y="3213507"/>
            <a:ext cx="3163523" cy="1852677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Beam search</a:t>
            </a:r>
          </a:p>
        </p:txBody>
      </p:sp>
      <p:sp>
        <p:nvSpPr>
          <p:cNvPr id="486" name="Line"/>
          <p:cNvSpPr/>
          <p:nvPr/>
        </p:nvSpPr>
        <p:spPr>
          <a:xfrm flipV="1">
            <a:off x="5566153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87" name="Адаптация может происходить на уровне  пересчёта скоров в лучах  и на уровне реранкинга итоговых последовательной"/>
          <p:cNvSpPr txBox="1"/>
          <p:nvPr/>
        </p:nvSpPr>
        <p:spPr>
          <a:xfrm>
            <a:off x="7443271" y="6811038"/>
            <a:ext cx="16980646" cy="192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Адаптация может происходить на уровне </a:t>
            </a:r>
            <a:br/>
            <a:r>
              <a:rPr b="1">
                <a:solidFill>
                  <a:schemeClr val="accent3">
                    <a:hueOff val="914338"/>
                    <a:satOff val="31515"/>
                    <a:lumOff val="-30790"/>
                  </a:schemeClr>
                </a:solidFill>
              </a:rPr>
              <a:t>пересчёта скоров в лучах</a:t>
            </a:r>
            <a:r>
              <a:t> </a:t>
            </a:r>
            <a:br/>
            <a:r>
              <a:t>и на уровне реранкинга итоговых последовательной</a:t>
            </a:r>
          </a:p>
        </p:txBody>
      </p:sp>
      <p:sp>
        <p:nvSpPr>
          <p:cNvPr id="488" name="Rescoring LM"/>
          <p:cNvSpPr/>
          <p:nvPr/>
        </p:nvSpPr>
        <p:spPr>
          <a:xfrm>
            <a:off x="7536181" y="3948107"/>
            <a:ext cx="2825381" cy="932322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Rescoring LM</a:t>
            </a:r>
          </a:p>
        </p:txBody>
      </p:sp>
      <p:sp>
        <p:nvSpPr>
          <p:cNvPr id="489" name="Final text"/>
          <p:cNvSpPr/>
          <p:nvPr/>
        </p:nvSpPr>
        <p:spPr>
          <a:xfrm>
            <a:off x="12862548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Final text</a:t>
            </a:r>
          </a:p>
        </p:txBody>
      </p:sp>
      <p:sp>
        <p:nvSpPr>
          <p:cNvPr id="490" name="Line"/>
          <p:cNvSpPr/>
          <p:nvPr/>
        </p:nvSpPr>
        <p:spPr>
          <a:xfrm flipV="1">
            <a:off x="11061590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91" name="однонаправленная"/>
          <p:cNvSpPr txBox="1"/>
          <p:nvPr/>
        </p:nvSpPr>
        <p:spPr>
          <a:xfrm>
            <a:off x="7382316" y="5117542"/>
            <a:ext cx="3133111" cy="498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i="1" sz="2600">
                <a:solidFill>
                  <a:srgbClr val="000000"/>
                </a:solidFill>
              </a:defRPr>
            </a:lvl1pPr>
          </a:lstStyle>
          <a:p>
            <a:pPr/>
            <a:r>
              <a:t>однонаправленная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Rectangle"/>
          <p:cNvSpPr/>
          <p:nvPr/>
        </p:nvSpPr>
        <p:spPr>
          <a:xfrm>
            <a:off x="6994724" y="2838406"/>
            <a:ext cx="3908296" cy="2581958"/>
          </a:xfrm>
          <a:prstGeom prst="rect">
            <a:avLst/>
          </a:prstGeom>
          <a:solidFill>
            <a:srgbClr val="FFFFFF"/>
          </a:solidFill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494" name="Screenshot 2025-10-30 at 23.42.41.png" descr="Screenshot 2025-10-30 at 23.42.41.png"/>
          <p:cNvPicPr>
            <a:picLocks noChangeAspect="1"/>
          </p:cNvPicPr>
          <p:nvPr/>
        </p:nvPicPr>
        <p:blipFill>
          <a:blip r:embed="rId2">
            <a:extLst/>
          </a:blip>
          <a:srcRect l="47754" t="0" r="0" b="0"/>
          <a:stretch>
            <a:fillRect/>
          </a:stretch>
        </p:blipFill>
        <p:spPr>
          <a:xfrm>
            <a:off x="-8438" y="3351312"/>
            <a:ext cx="6537263" cy="8848510"/>
          </a:xfrm>
          <a:prstGeom prst="rect">
            <a:avLst/>
          </a:prstGeom>
          <a:ln w="12700">
            <a:miter lim="400000"/>
          </a:ln>
        </p:spPr>
      </p:pic>
      <p:sp>
        <p:nvSpPr>
          <p:cNvPr id="495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Методы адаптации</a:t>
            </a:r>
          </a:p>
        </p:txBody>
      </p:sp>
      <p:sp>
        <p:nvSpPr>
          <p:cNvPr id="496" name="Beam search"/>
          <p:cNvSpPr/>
          <p:nvPr/>
        </p:nvSpPr>
        <p:spPr>
          <a:xfrm>
            <a:off x="7367110" y="3213507"/>
            <a:ext cx="3163523" cy="1852677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Beam search</a:t>
            </a:r>
          </a:p>
        </p:txBody>
      </p:sp>
      <p:sp>
        <p:nvSpPr>
          <p:cNvPr id="497" name="Line"/>
          <p:cNvSpPr/>
          <p:nvPr/>
        </p:nvSpPr>
        <p:spPr>
          <a:xfrm flipV="1">
            <a:off x="5566153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98" name="Адаптация может происходить на уровне  пересчёта скоров в лучах  и на уровне реранкинга итоговых последовательной"/>
          <p:cNvSpPr txBox="1"/>
          <p:nvPr/>
        </p:nvSpPr>
        <p:spPr>
          <a:xfrm>
            <a:off x="7443271" y="6811038"/>
            <a:ext cx="16980646" cy="192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Адаптация может происходить на уровне </a:t>
            </a:r>
            <a:br/>
            <a:r>
              <a:rPr b="1">
                <a:solidFill>
                  <a:schemeClr val="accent3">
                    <a:hueOff val="914338"/>
                    <a:satOff val="31515"/>
                    <a:lumOff val="-30790"/>
                  </a:schemeClr>
                </a:solidFill>
              </a:rPr>
              <a:t>пересчёта скоров в лучах</a:t>
            </a:r>
            <a:r>
              <a:t> </a:t>
            </a:r>
            <a:br/>
            <a:r>
              <a:t>и на уровне реранкинга итоговых последовательной</a:t>
            </a:r>
          </a:p>
        </p:txBody>
      </p:sp>
      <p:sp>
        <p:nvSpPr>
          <p:cNvPr id="499" name="Rescoring LM"/>
          <p:cNvSpPr/>
          <p:nvPr/>
        </p:nvSpPr>
        <p:spPr>
          <a:xfrm>
            <a:off x="7536181" y="3948107"/>
            <a:ext cx="2825381" cy="932322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Rescoring LM</a:t>
            </a:r>
          </a:p>
        </p:txBody>
      </p:sp>
      <p:sp>
        <p:nvSpPr>
          <p:cNvPr id="500" name="Final text"/>
          <p:cNvSpPr/>
          <p:nvPr/>
        </p:nvSpPr>
        <p:spPr>
          <a:xfrm>
            <a:off x="12862548" y="3213507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Final text</a:t>
            </a:r>
          </a:p>
        </p:txBody>
      </p:sp>
      <p:sp>
        <p:nvSpPr>
          <p:cNvPr id="501" name="Line"/>
          <p:cNvSpPr/>
          <p:nvPr/>
        </p:nvSpPr>
        <p:spPr>
          <a:xfrm flipV="1">
            <a:off x="11061590" y="3848507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02" name="shallow fusion"/>
          <p:cNvSpPr txBox="1"/>
          <p:nvPr/>
        </p:nvSpPr>
        <p:spPr>
          <a:xfrm>
            <a:off x="7167426" y="5510201"/>
            <a:ext cx="5862685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b="1" sz="4000">
                <a:solidFill>
                  <a:srgbClr val="000000"/>
                </a:solidFill>
              </a:defRPr>
            </a:lvl1pPr>
          </a:lstStyle>
          <a:p>
            <a:pPr/>
            <a:r>
              <a:t>shallow fusion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hallow fusio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Shallow fusion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Функция смешения</a:t>
            </a:r>
          </a:p>
        </p:txBody>
      </p:sp>
      <p:pic>
        <p:nvPicPr>
          <p:cNvPr id="507" name="Screenshot 2025-10-30 at 23.58.27.png" descr="Screenshot 2025-10-30 at 23.58.2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5933" y="5767449"/>
            <a:ext cx="22152134" cy="3712309"/>
          </a:xfrm>
          <a:prstGeom prst="rect">
            <a:avLst/>
          </a:prstGeom>
          <a:ln w="12700">
            <a:miter lim="400000"/>
          </a:ln>
        </p:spPr>
      </p:pic>
      <p:sp>
        <p:nvSpPr>
          <p:cNvPr id="508" name="Listen, Attend, Spell: 2015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Listen, Attend, Spell: 2015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Функция смешения</a:t>
            </a:r>
          </a:p>
        </p:txBody>
      </p:sp>
      <p:pic>
        <p:nvPicPr>
          <p:cNvPr id="511" name="Screenshot 2025-10-30 at 23.58.27.png" descr="Screenshot 2025-10-30 at 23.58.2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5933" y="5767449"/>
            <a:ext cx="22152134" cy="3712309"/>
          </a:xfrm>
          <a:prstGeom prst="rect">
            <a:avLst/>
          </a:prstGeom>
          <a:ln w="12700">
            <a:miter lim="400000"/>
          </a:ln>
        </p:spPr>
      </p:pic>
      <p:sp>
        <p:nvSpPr>
          <p:cNvPr id="512" name="Listen, Attend, Spell: 2015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Listen, Attend, Spell: 2015</a:t>
            </a:r>
          </a:p>
        </p:txBody>
      </p:sp>
      <p:sp>
        <p:nvSpPr>
          <p:cNvPr id="513" name="Rectangle"/>
          <p:cNvSpPr/>
          <p:nvPr/>
        </p:nvSpPr>
        <p:spPr>
          <a:xfrm>
            <a:off x="3934505" y="7162053"/>
            <a:ext cx="1019139" cy="923101"/>
          </a:xfrm>
          <a:prstGeom prst="rect">
            <a:avLst/>
          </a:prstGeom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14" name="Rectangle"/>
          <p:cNvSpPr/>
          <p:nvPr/>
        </p:nvSpPr>
        <p:spPr>
          <a:xfrm>
            <a:off x="12165808" y="6222697"/>
            <a:ext cx="1019139" cy="923101"/>
          </a:xfrm>
          <a:prstGeom prst="rect">
            <a:avLst/>
          </a:prstGeom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Функция смешения</a:t>
            </a:r>
          </a:p>
        </p:txBody>
      </p:sp>
      <p:pic>
        <p:nvPicPr>
          <p:cNvPr id="517" name="Screenshot 2025-10-30 at 23.58.27.png" descr="Screenshot 2025-10-30 at 23.58.2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5933" y="5767449"/>
            <a:ext cx="22152134" cy="3712309"/>
          </a:xfrm>
          <a:prstGeom prst="rect">
            <a:avLst/>
          </a:prstGeom>
          <a:ln w="12700">
            <a:miter lim="400000"/>
          </a:ln>
        </p:spPr>
      </p:pic>
      <p:sp>
        <p:nvSpPr>
          <p:cNvPr id="518" name="Listen, Attend, Spell: 2015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Listen, Attend, Spell: 2015</a:t>
            </a:r>
          </a:p>
        </p:txBody>
      </p:sp>
      <p:sp>
        <p:nvSpPr>
          <p:cNvPr id="519" name="Rectangle"/>
          <p:cNvSpPr/>
          <p:nvPr/>
        </p:nvSpPr>
        <p:spPr>
          <a:xfrm>
            <a:off x="2678575" y="7209446"/>
            <a:ext cx="1019139" cy="1168771"/>
          </a:xfrm>
          <a:prstGeom prst="rect">
            <a:avLst/>
          </a:prstGeom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0" name="Rectangle"/>
          <p:cNvSpPr/>
          <p:nvPr/>
        </p:nvSpPr>
        <p:spPr>
          <a:xfrm>
            <a:off x="10886182" y="6273615"/>
            <a:ext cx="1019139" cy="1168770"/>
          </a:xfrm>
          <a:prstGeom prst="rect">
            <a:avLst/>
          </a:prstGeom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1" name="Rectangle"/>
          <p:cNvSpPr/>
          <p:nvPr/>
        </p:nvSpPr>
        <p:spPr>
          <a:xfrm>
            <a:off x="9686161" y="8106785"/>
            <a:ext cx="1019139" cy="1168770"/>
          </a:xfrm>
          <a:prstGeom prst="rect">
            <a:avLst/>
          </a:prstGeom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2" name="Rectangle"/>
          <p:cNvSpPr/>
          <p:nvPr/>
        </p:nvSpPr>
        <p:spPr>
          <a:xfrm>
            <a:off x="21558254" y="7209446"/>
            <a:ext cx="1019139" cy="1168771"/>
          </a:xfrm>
          <a:prstGeom prst="rect">
            <a:avLst/>
          </a:prstGeom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Функция смешения</a:t>
            </a:r>
          </a:p>
        </p:txBody>
      </p:sp>
      <p:pic>
        <p:nvPicPr>
          <p:cNvPr id="525" name="Screenshot 2025-10-30 at 23.58.27.png" descr="Screenshot 2025-10-30 at 23.58.2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5933" y="5767449"/>
            <a:ext cx="22152134" cy="3712309"/>
          </a:xfrm>
          <a:prstGeom prst="rect">
            <a:avLst/>
          </a:prstGeom>
          <a:ln w="12700">
            <a:miter lim="400000"/>
          </a:ln>
        </p:spPr>
      </p:pic>
      <p:sp>
        <p:nvSpPr>
          <p:cNvPr id="526" name="Listen, Attend, Spell: 2015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Listen, Attend, Spell: 2015</a:t>
            </a:r>
          </a:p>
        </p:txBody>
      </p:sp>
      <p:sp>
        <p:nvSpPr>
          <p:cNvPr id="527" name="Rectangle"/>
          <p:cNvSpPr/>
          <p:nvPr/>
        </p:nvSpPr>
        <p:spPr>
          <a:xfrm>
            <a:off x="16360140" y="6783182"/>
            <a:ext cx="3303936" cy="1680843"/>
          </a:xfrm>
          <a:prstGeom prst="rect">
            <a:avLst/>
          </a:prstGeom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8" name="Rectangle"/>
          <p:cNvSpPr/>
          <p:nvPr/>
        </p:nvSpPr>
        <p:spPr>
          <a:xfrm>
            <a:off x="7292785" y="5808195"/>
            <a:ext cx="3303936" cy="1680844"/>
          </a:xfrm>
          <a:prstGeom prst="rect">
            <a:avLst/>
          </a:prstGeom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Функция смешения</a:t>
            </a:r>
          </a:p>
        </p:txBody>
      </p:sp>
      <p:pic>
        <p:nvPicPr>
          <p:cNvPr id="531" name="Screenshot 2025-10-30 at 23.58.27.png" descr="Screenshot 2025-10-30 at 23.58.2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5933" y="5767449"/>
            <a:ext cx="22152134" cy="3712309"/>
          </a:xfrm>
          <a:prstGeom prst="rect">
            <a:avLst/>
          </a:prstGeom>
          <a:ln w="12700">
            <a:miter lim="400000"/>
          </a:ln>
        </p:spPr>
      </p:pic>
      <p:sp>
        <p:nvSpPr>
          <p:cNvPr id="532" name="Listen, Attend, Spell: 2015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Listen, Attend, Spell: 2015</a:t>
            </a:r>
          </a:p>
        </p:txBody>
      </p:sp>
      <p:sp>
        <p:nvSpPr>
          <p:cNvPr id="533" name="Rectangle"/>
          <p:cNvSpPr/>
          <p:nvPr/>
        </p:nvSpPr>
        <p:spPr>
          <a:xfrm>
            <a:off x="7292785" y="5808195"/>
            <a:ext cx="6392943" cy="1680844"/>
          </a:xfrm>
          <a:prstGeom prst="rect">
            <a:avLst/>
          </a:prstGeom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Функция смешения</a:t>
            </a:r>
          </a:p>
        </p:txBody>
      </p:sp>
      <p:pic>
        <p:nvPicPr>
          <p:cNvPr id="536" name="Screenshot 2025-10-30 at 23.58.27.png" descr="Screenshot 2025-10-30 at 23.58.2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5933" y="5767449"/>
            <a:ext cx="22152134" cy="3712309"/>
          </a:xfrm>
          <a:prstGeom prst="rect">
            <a:avLst/>
          </a:prstGeom>
          <a:ln w="12700">
            <a:miter lim="400000"/>
          </a:ln>
        </p:spPr>
      </p:pic>
      <p:sp>
        <p:nvSpPr>
          <p:cNvPr id="537" name="Listen, Attend, Spell: 2015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Listen, Attend, Spell: 2015</a:t>
            </a:r>
          </a:p>
        </p:txBody>
      </p:sp>
      <p:sp>
        <p:nvSpPr>
          <p:cNvPr id="538" name="Rectangle"/>
          <p:cNvSpPr/>
          <p:nvPr/>
        </p:nvSpPr>
        <p:spPr>
          <a:xfrm>
            <a:off x="16397538" y="6783182"/>
            <a:ext cx="6624727" cy="1680843"/>
          </a:xfrm>
          <a:prstGeom prst="rect">
            <a:avLst/>
          </a:prstGeom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Функция смешения</a:t>
            </a:r>
          </a:p>
        </p:txBody>
      </p:sp>
      <p:pic>
        <p:nvPicPr>
          <p:cNvPr id="541" name="Screenshot 2025-10-30 at 23.58.27.png" descr="Screenshot 2025-10-30 at 23.58.2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5933" y="5767449"/>
            <a:ext cx="22152134" cy="3712309"/>
          </a:xfrm>
          <a:prstGeom prst="rect">
            <a:avLst/>
          </a:prstGeom>
          <a:ln w="12700">
            <a:miter lim="400000"/>
          </a:ln>
        </p:spPr>
      </p:pic>
      <p:sp>
        <p:nvSpPr>
          <p:cNvPr id="542" name="Listen, Attend, Spell: 2015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Listen, Attend, Spell: 2015</a:t>
            </a:r>
          </a:p>
        </p:txBody>
      </p:sp>
      <p:sp>
        <p:nvSpPr>
          <p:cNvPr id="543" name="Rectangle"/>
          <p:cNvSpPr/>
          <p:nvPr/>
        </p:nvSpPr>
        <p:spPr>
          <a:xfrm>
            <a:off x="15402273" y="6712091"/>
            <a:ext cx="1057369" cy="1475903"/>
          </a:xfrm>
          <a:prstGeom prst="rect">
            <a:avLst/>
          </a:prstGeom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Функция смешения</a:t>
            </a:r>
          </a:p>
        </p:txBody>
      </p:sp>
      <p:pic>
        <p:nvPicPr>
          <p:cNvPr id="546" name="Screenshot 2025-10-30 at 23.58.27.png" descr="Screenshot 2025-10-30 at 23.58.2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5933" y="5767449"/>
            <a:ext cx="22152134" cy="3712309"/>
          </a:xfrm>
          <a:prstGeom prst="rect">
            <a:avLst/>
          </a:prstGeom>
          <a:ln w="12700">
            <a:miter lim="400000"/>
          </a:ln>
        </p:spPr>
      </p:pic>
      <p:sp>
        <p:nvSpPr>
          <p:cNvPr id="547" name="Listen, Attend, Spell: 2015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Listen, Attend, Spell: 2015</a:t>
            </a:r>
          </a:p>
        </p:txBody>
      </p:sp>
      <p:sp>
        <p:nvSpPr>
          <p:cNvPr id="548" name="Rectangle"/>
          <p:cNvSpPr/>
          <p:nvPr/>
        </p:nvSpPr>
        <p:spPr>
          <a:xfrm>
            <a:off x="9288501" y="7683660"/>
            <a:ext cx="2482323" cy="1785165"/>
          </a:xfrm>
          <a:prstGeom prst="rect">
            <a:avLst/>
          </a:prstGeom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551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  <p:pic>
        <p:nvPicPr>
          <p:cNvPr id="552" name="Screenshot 2025-10-31 at 00.00.56.png" descr="Screenshot 2025-10-31 at 00.00.5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30219" y="6866662"/>
            <a:ext cx="20923562" cy="20645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555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  <p:pic>
        <p:nvPicPr>
          <p:cNvPr id="556" name="Screenshot 2025-10-31 at 00.00.56.png" descr="Screenshot 2025-10-31 at 00.00.5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30219" y="6866662"/>
            <a:ext cx="20923562" cy="2064520"/>
          </a:xfrm>
          <a:prstGeom prst="rect">
            <a:avLst/>
          </a:prstGeom>
          <a:ln w="12700">
            <a:miter lim="400000"/>
          </a:ln>
        </p:spPr>
      </p:pic>
      <p:sp>
        <p:nvSpPr>
          <p:cNvPr id="557" name="Rectangle"/>
          <p:cNvSpPr/>
          <p:nvPr/>
        </p:nvSpPr>
        <p:spPr>
          <a:xfrm>
            <a:off x="4169993" y="7006340"/>
            <a:ext cx="7748844" cy="1937521"/>
          </a:xfrm>
          <a:prstGeom prst="rect">
            <a:avLst/>
          </a:prstGeom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560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  <p:pic>
        <p:nvPicPr>
          <p:cNvPr id="561" name="Screenshot 2025-10-31 at 00.00.56.png" descr="Screenshot 2025-10-31 at 00.00.5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30219" y="6866662"/>
            <a:ext cx="20923562" cy="2064520"/>
          </a:xfrm>
          <a:prstGeom prst="rect">
            <a:avLst/>
          </a:prstGeom>
          <a:ln w="12700">
            <a:miter lim="400000"/>
          </a:ln>
        </p:spPr>
      </p:pic>
      <p:sp>
        <p:nvSpPr>
          <p:cNvPr id="562" name="Rectangle"/>
          <p:cNvSpPr/>
          <p:nvPr/>
        </p:nvSpPr>
        <p:spPr>
          <a:xfrm>
            <a:off x="12836263" y="6930162"/>
            <a:ext cx="5575495" cy="1307950"/>
          </a:xfrm>
          <a:prstGeom prst="rect">
            <a:avLst/>
          </a:prstGeom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565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  <p:pic>
        <p:nvPicPr>
          <p:cNvPr id="566" name="Screenshot 2025-10-31 at 00.00.56.png" descr="Screenshot 2025-10-31 at 00.00.5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30219" y="6866662"/>
            <a:ext cx="20923562" cy="2064520"/>
          </a:xfrm>
          <a:prstGeom prst="rect">
            <a:avLst/>
          </a:prstGeom>
          <a:ln w="12700">
            <a:miter lim="400000"/>
          </a:ln>
        </p:spPr>
      </p:pic>
      <p:sp>
        <p:nvSpPr>
          <p:cNvPr id="567" name="Rectangle"/>
          <p:cNvSpPr/>
          <p:nvPr/>
        </p:nvSpPr>
        <p:spPr>
          <a:xfrm>
            <a:off x="19894852" y="7048646"/>
            <a:ext cx="2900813" cy="1216773"/>
          </a:xfrm>
          <a:prstGeom prst="rect">
            <a:avLst/>
          </a:prstGeom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570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  <p:pic>
        <p:nvPicPr>
          <p:cNvPr id="571" name="Screenshot 2025-11-03 at 15.15.15.png" descr="Screenshot 2025-11-03 at 15.15.1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70807" y="6287740"/>
            <a:ext cx="13442386" cy="25665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574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  <p:pic>
        <p:nvPicPr>
          <p:cNvPr id="575" name="Screenshot 2025-11-03 at 15.15.15.png" descr="Screenshot 2025-11-03 at 15.15.1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70807" y="6287740"/>
            <a:ext cx="13442386" cy="2566505"/>
          </a:xfrm>
          <a:prstGeom prst="rect">
            <a:avLst/>
          </a:prstGeom>
          <a:ln w="12700">
            <a:miter lim="400000"/>
          </a:ln>
        </p:spPr>
      </p:pic>
      <p:sp>
        <p:nvSpPr>
          <p:cNvPr id="576" name="Line"/>
          <p:cNvSpPr/>
          <p:nvPr/>
        </p:nvSpPr>
        <p:spPr>
          <a:xfrm flipV="1">
            <a:off x="14395801" y="8969467"/>
            <a:ext cx="1" cy="179605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77" name="frames"/>
          <p:cNvSpPr txBox="1"/>
          <p:nvPr/>
        </p:nvSpPr>
        <p:spPr>
          <a:xfrm>
            <a:off x="13756483" y="10837358"/>
            <a:ext cx="127863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frames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580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  <p:pic>
        <p:nvPicPr>
          <p:cNvPr id="581" name="Screenshot 2025-11-03 at 15.15.15.png" descr="Screenshot 2025-11-03 at 15.15.1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70807" y="6287740"/>
            <a:ext cx="13442386" cy="2566505"/>
          </a:xfrm>
          <a:prstGeom prst="rect">
            <a:avLst/>
          </a:prstGeom>
          <a:ln w="12700">
            <a:miter lim="400000"/>
          </a:ln>
        </p:spPr>
      </p:pic>
      <p:sp>
        <p:nvSpPr>
          <p:cNvPr id="582" name="Line"/>
          <p:cNvSpPr/>
          <p:nvPr/>
        </p:nvSpPr>
        <p:spPr>
          <a:xfrm flipV="1">
            <a:off x="14395801" y="8969467"/>
            <a:ext cx="1" cy="179605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83" name="frames"/>
          <p:cNvSpPr txBox="1"/>
          <p:nvPr/>
        </p:nvSpPr>
        <p:spPr>
          <a:xfrm>
            <a:off x="13756483" y="10837358"/>
            <a:ext cx="127863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frames</a:t>
            </a:r>
          </a:p>
        </p:txBody>
      </p:sp>
      <p:sp>
        <p:nvSpPr>
          <p:cNvPr id="584" name="Line"/>
          <p:cNvSpPr/>
          <p:nvPr/>
        </p:nvSpPr>
        <p:spPr>
          <a:xfrm flipV="1">
            <a:off x="9759745" y="8969467"/>
            <a:ext cx="1" cy="179605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85" name="tokens"/>
          <p:cNvSpPr txBox="1"/>
          <p:nvPr/>
        </p:nvSpPr>
        <p:spPr>
          <a:xfrm>
            <a:off x="9130905" y="10837358"/>
            <a:ext cx="1257682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tokens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588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  <p:pic>
        <p:nvPicPr>
          <p:cNvPr id="589" name="Screenshot 2025-11-03 at 15.15.15.png" descr="Screenshot 2025-11-03 at 15.15.1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70807" y="6287740"/>
            <a:ext cx="13442386" cy="2566505"/>
          </a:xfrm>
          <a:prstGeom prst="rect">
            <a:avLst/>
          </a:prstGeom>
          <a:ln w="12700">
            <a:miter lim="400000"/>
          </a:ln>
        </p:spPr>
      </p:pic>
      <p:sp>
        <p:nvSpPr>
          <p:cNvPr id="590" name="Line"/>
          <p:cNvSpPr/>
          <p:nvPr/>
        </p:nvSpPr>
        <p:spPr>
          <a:xfrm flipV="1">
            <a:off x="14395801" y="8969467"/>
            <a:ext cx="1" cy="179605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91" name="frames"/>
          <p:cNvSpPr txBox="1"/>
          <p:nvPr/>
        </p:nvSpPr>
        <p:spPr>
          <a:xfrm>
            <a:off x="13756483" y="10837358"/>
            <a:ext cx="127863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frames</a:t>
            </a:r>
          </a:p>
        </p:txBody>
      </p:sp>
      <p:sp>
        <p:nvSpPr>
          <p:cNvPr id="592" name="Line"/>
          <p:cNvSpPr/>
          <p:nvPr/>
        </p:nvSpPr>
        <p:spPr>
          <a:xfrm flipV="1">
            <a:off x="9759745" y="8969467"/>
            <a:ext cx="1" cy="179605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93" name="tokens"/>
          <p:cNvSpPr txBox="1"/>
          <p:nvPr/>
        </p:nvSpPr>
        <p:spPr>
          <a:xfrm>
            <a:off x="9130905" y="10837358"/>
            <a:ext cx="1257682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tokens</a:t>
            </a:r>
          </a:p>
        </p:txBody>
      </p:sp>
      <p:sp>
        <p:nvSpPr>
          <p:cNvPr id="594" name="Line"/>
          <p:cNvSpPr/>
          <p:nvPr/>
        </p:nvSpPr>
        <p:spPr>
          <a:xfrm>
            <a:off x="15920913" y="5139102"/>
            <a:ext cx="1" cy="1796053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95" name="attention prob"/>
          <p:cNvSpPr txBox="1"/>
          <p:nvPr/>
        </p:nvSpPr>
        <p:spPr>
          <a:xfrm>
            <a:off x="14667421" y="4460174"/>
            <a:ext cx="2506981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attention prob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Screenshot 2025-11-03 at 15.14.14.png" descr="Screenshot 2025-11-03 at 15.14.1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78668" y="1429658"/>
            <a:ext cx="13847009" cy="11998501"/>
          </a:xfrm>
          <a:prstGeom prst="rect">
            <a:avLst/>
          </a:prstGeom>
          <a:ln w="12700">
            <a:miter lim="400000"/>
          </a:ln>
        </p:spPr>
      </p:pic>
      <p:sp>
        <p:nvSpPr>
          <p:cNvPr id="598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599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Screenshot 2025-11-03 at 15.14.14.png" descr="Screenshot 2025-11-03 at 15.14.1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78668" y="1429658"/>
            <a:ext cx="13847009" cy="11998501"/>
          </a:xfrm>
          <a:prstGeom prst="rect">
            <a:avLst/>
          </a:prstGeom>
          <a:ln w="12700">
            <a:miter lim="400000"/>
          </a:ln>
        </p:spPr>
      </p:pic>
      <p:sp>
        <p:nvSpPr>
          <p:cNvPr id="602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603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  <p:sp>
        <p:nvSpPr>
          <p:cNvPr id="604" name="Rectangle"/>
          <p:cNvSpPr/>
          <p:nvPr/>
        </p:nvSpPr>
        <p:spPr>
          <a:xfrm>
            <a:off x="10899883" y="6665911"/>
            <a:ext cx="12474688" cy="384178"/>
          </a:xfrm>
          <a:prstGeom prst="rect">
            <a:avLst/>
          </a:prstGeom>
          <a:ln w="635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Screenshot 2025-11-03 at 15.14.14.png" descr="Screenshot 2025-11-03 at 15.14.1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78668" y="1429658"/>
            <a:ext cx="13847009" cy="11998501"/>
          </a:xfrm>
          <a:prstGeom prst="rect">
            <a:avLst/>
          </a:prstGeom>
          <a:ln w="12700">
            <a:miter lim="400000"/>
          </a:ln>
        </p:spPr>
      </p:pic>
      <p:sp>
        <p:nvSpPr>
          <p:cNvPr id="607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608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  <p:sp>
        <p:nvSpPr>
          <p:cNvPr id="609" name="Rectangle"/>
          <p:cNvSpPr/>
          <p:nvPr/>
        </p:nvSpPr>
        <p:spPr>
          <a:xfrm>
            <a:off x="10923579" y="6911553"/>
            <a:ext cx="12474688" cy="384177"/>
          </a:xfrm>
          <a:prstGeom prst="rect">
            <a:avLst/>
          </a:prstGeom>
          <a:ln w="635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Screenshot 2025-11-03 at 15.14.14.png" descr="Screenshot 2025-11-03 at 15.14.1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78668" y="1429658"/>
            <a:ext cx="13847009" cy="11998501"/>
          </a:xfrm>
          <a:prstGeom prst="rect">
            <a:avLst/>
          </a:prstGeom>
          <a:ln w="12700">
            <a:miter lim="400000"/>
          </a:ln>
        </p:spPr>
      </p:pic>
      <p:sp>
        <p:nvSpPr>
          <p:cNvPr id="612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613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  <p:sp>
        <p:nvSpPr>
          <p:cNvPr id="614" name="Rectangle"/>
          <p:cNvSpPr/>
          <p:nvPr/>
        </p:nvSpPr>
        <p:spPr>
          <a:xfrm>
            <a:off x="10923579" y="7172218"/>
            <a:ext cx="12474688" cy="384177"/>
          </a:xfrm>
          <a:prstGeom prst="rect">
            <a:avLst/>
          </a:prstGeom>
          <a:ln w="635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Screenshot 2025-11-03 at 15.14.14.png" descr="Screenshot 2025-11-03 at 15.14.1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78668" y="1429658"/>
            <a:ext cx="13847009" cy="11998501"/>
          </a:xfrm>
          <a:prstGeom prst="rect">
            <a:avLst/>
          </a:prstGeom>
          <a:ln w="12700">
            <a:miter lim="400000"/>
          </a:ln>
        </p:spPr>
      </p:pic>
      <p:sp>
        <p:nvSpPr>
          <p:cNvPr id="617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618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  <p:sp>
        <p:nvSpPr>
          <p:cNvPr id="619" name="Rectangle"/>
          <p:cNvSpPr/>
          <p:nvPr/>
        </p:nvSpPr>
        <p:spPr>
          <a:xfrm>
            <a:off x="10923579" y="7172218"/>
            <a:ext cx="12474688" cy="384177"/>
          </a:xfrm>
          <a:prstGeom prst="rect">
            <a:avLst/>
          </a:prstGeom>
          <a:ln w="635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20" name="Rectangle"/>
          <p:cNvSpPr/>
          <p:nvPr/>
        </p:nvSpPr>
        <p:spPr>
          <a:xfrm rot="16200000">
            <a:off x="10593537" y="8436895"/>
            <a:ext cx="8602021" cy="384177"/>
          </a:xfrm>
          <a:prstGeom prst="rect">
            <a:avLst/>
          </a:prstGeom>
          <a:ln w="635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Screenshot 2025-11-03 at 15.14.14.png" descr="Screenshot 2025-11-03 at 15.14.1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78668" y="1429658"/>
            <a:ext cx="13847009" cy="11998501"/>
          </a:xfrm>
          <a:prstGeom prst="rect">
            <a:avLst/>
          </a:prstGeom>
          <a:ln w="12700">
            <a:miter lim="400000"/>
          </a:ln>
        </p:spPr>
      </p:pic>
      <p:sp>
        <p:nvSpPr>
          <p:cNvPr id="623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624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  <p:sp>
        <p:nvSpPr>
          <p:cNvPr id="625" name="Rectangle"/>
          <p:cNvSpPr/>
          <p:nvPr/>
        </p:nvSpPr>
        <p:spPr>
          <a:xfrm>
            <a:off x="10923579" y="7172218"/>
            <a:ext cx="12474688" cy="384177"/>
          </a:xfrm>
          <a:prstGeom prst="rect">
            <a:avLst/>
          </a:prstGeom>
          <a:ln w="635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26" name="Rectangle"/>
          <p:cNvSpPr/>
          <p:nvPr/>
        </p:nvSpPr>
        <p:spPr>
          <a:xfrm rot="16200000">
            <a:off x="10925292" y="8460592"/>
            <a:ext cx="8602020" cy="384177"/>
          </a:xfrm>
          <a:prstGeom prst="rect">
            <a:avLst/>
          </a:prstGeom>
          <a:ln w="635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Screenshot 2025-11-03 at 15.14.14.png" descr="Screenshot 2025-11-03 at 15.14.1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78668" y="1429658"/>
            <a:ext cx="13847009" cy="11998501"/>
          </a:xfrm>
          <a:prstGeom prst="rect">
            <a:avLst/>
          </a:prstGeom>
          <a:ln w="12700">
            <a:miter lim="400000"/>
          </a:ln>
        </p:spPr>
      </p:pic>
      <p:sp>
        <p:nvSpPr>
          <p:cNvPr id="629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630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  <p:sp>
        <p:nvSpPr>
          <p:cNvPr id="631" name="Rectangle"/>
          <p:cNvSpPr/>
          <p:nvPr/>
        </p:nvSpPr>
        <p:spPr>
          <a:xfrm>
            <a:off x="10923579" y="7172218"/>
            <a:ext cx="12474688" cy="384177"/>
          </a:xfrm>
          <a:prstGeom prst="rect">
            <a:avLst/>
          </a:prstGeom>
          <a:ln w="635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32" name="Rectangle"/>
          <p:cNvSpPr/>
          <p:nvPr/>
        </p:nvSpPr>
        <p:spPr>
          <a:xfrm rot="16200000">
            <a:off x="11257046" y="8436895"/>
            <a:ext cx="8602021" cy="384177"/>
          </a:xfrm>
          <a:prstGeom prst="rect">
            <a:avLst/>
          </a:prstGeom>
          <a:ln w="635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635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  <p:pic>
        <p:nvPicPr>
          <p:cNvPr id="636" name="Screenshot 2025-11-03 at 15.15.15.png" descr="Screenshot 2025-11-03 at 15.15.1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70807" y="6287740"/>
            <a:ext cx="13442386" cy="2566505"/>
          </a:xfrm>
          <a:prstGeom prst="rect">
            <a:avLst/>
          </a:prstGeom>
          <a:ln w="12700">
            <a:miter lim="400000"/>
          </a:ln>
        </p:spPr>
      </p:pic>
      <p:sp>
        <p:nvSpPr>
          <p:cNvPr id="637" name="Line"/>
          <p:cNvSpPr/>
          <p:nvPr/>
        </p:nvSpPr>
        <p:spPr>
          <a:xfrm flipV="1">
            <a:off x="14395801" y="8969467"/>
            <a:ext cx="1" cy="179605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38" name="frames"/>
          <p:cNvSpPr txBox="1"/>
          <p:nvPr/>
        </p:nvSpPr>
        <p:spPr>
          <a:xfrm>
            <a:off x="13756483" y="10837358"/>
            <a:ext cx="127863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frames</a:t>
            </a:r>
          </a:p>
        </p:txBody>
      </p:sp>
      <p:sp>
        <p:nvSpPr>
          <p:cNvPr id="639" name="Line"/>
          <p:cNvSpPr/>
          <p:nvPr/>
        </p:nvSpPr>
        <p:spPr>
          <a:xfrm flipV="1">
            <a:off x="9759745" y="8969467"/>
            <a:ext cx="1" cy="179605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40" name="tokens"/>
          <p:cNvSpPr txBox="1"/>
          <p:nvPr/>
        </p:nvSpPr>
        <p:spPr>
          <a:xfrm>
            <a:off x="9130905" y="10837358"/>
            <a:ext cx="1257682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tokens</a:t>
            </a:r>
          </a:p>
        </p:txBody>
      </p:sp>
      <p:sp>
        <p:nvSpPr>
          <p:cNvPr id="641" name="Line"/>
          <p:cNvSpPr/>
          <p:nvPr/>
        </p:nvSpPr>
        <p:spPr>
          <a:xfrm>
            <a:off x="15920913" y="5139102"/>
            <a:ext cx="1" cy="1796053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42" name="attention prob"/>
          <p:cNvSpPr txBox="1"/>
          <p:nvPr/>
        </p:nvSpPr>
        <p:spPr>
          <a:xfrm>
            <a:off x="14667421" y="4460174"/>
            <a:ext cx="2506981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attention prob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645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  <p:pic>
        <p:nvPicPr>
          <p:cNvPr id="646" name="Screenshot 2025-11-03 at 15.15.15.png" descr="Screenshot 2025-11-03 at 15.15.1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70807" y="6287740"/>
            <a:ext cx="13442386" cy="2566505"/>
          </a:xfrm>
          <a:prstGeom prst="rect">
            <a:avLst/>
          </a:prstGeom>
          <a:ln w="12700">
            <a:miter lim="400000"/>
          </a:ln>
        </p:spPr>
      </p:pic>
      <p:sp>
        <p:nvSpPr>
          <p:cNvPr id="647" name="Line"/>
          <p:cNvSpPr/>
          <p:nvPr/>
        </p:nvSpPr>
        <p:spPr>
          <a:xfrm flipV="1">
            <a:off x="14395801" y="8969467"/>
            <a:ext cx="1" cy="179605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48" name="frames"/>
          <p:cNvSpPr txBox="1"/>
          <p:nvPr/>
        </p:nvSpPr>
        <p:spPr>
          <a:xfrm>
            <a:off x="13756483" y="10837358"/>
            <a:ext cx="127863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frames</a:t>
            </a:r>
          </a:p>
        </p:txBody>
      </p:sp>
      <p:sp>
        <p:nvSpPr>
          <p:cNvPr id="649" name="Line"/>
          <p:cNvSpPr/>
          <p:nvPr/>
        </p:nvSpPr>
        <p:spPr>
          <a:xfrm flipV="1">
            <a:off x="9759745" y="8969467"/>
            <a:ext cx="1" cy="179605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50" name="tokens"/>
          <p:cNvSpPr txBox="1"/>
          <p:nvPr/>
        </p:nvSpPr>
        <p:spPr>
          <a:xfrm>
            <a:off x="9130905" y="10837358"/>
            <a:ext cx="1257682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tokens</a:t>
            </a:r>
          </a:p>
        </p:txBody>
      </p:sp>
      <p:sp>
        <p:nvSpPr>
          <p:cNvPr id="651" name="Line"/>
          <p:cNvSpPr/>
          <p:nvPr/>
        </p:nvSpPr>
        <p:spPr>
          <a:xfrm>
            <a:off x="15920913" y="5139102"/>
            <a:ext cx="1" cy="1796053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52" name="attention prob"/>
          <p:cNvSpPr txBox="1"/>
          <p:nvPr/>
        </p:nvSpPr>
        <p:spPr>
          <a:xfrm>
            <a:off x="14667421" y="4460174"/>
            <a:ext cx="2506981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attention prob</a:t>
            </a:r>
          </a:p>
        </p:txBody>
      </p:sp>
      <p:sp>
        <p:nvSpPr>
          <p:cNvPr id="653" name="Rectangle"/>
          <p:cNvSpPr/>
          <p:nvPr/>
        </p:nvSpPr>
        <p:spPr>
          <a:xfrm>
            <a:off x="11885335" y="6787981"/>
            <a:ext cx="6468291" cy="1938229"/>
          </a:xfrm>
          <a:prstGeom prst="rect">
            <a:avLst/>
          </a:prstGeom>
          <a:ln w="635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656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  <p:pic>
        <p:nvPicPr>
          <p:cNvPr id="657" name="Screenshot 2025-10-31 at 00.00.56.png" descr="Screenshot 2025-10-31 at 00.00.5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30219" y="6866662"/>
            <a:ext cx="20923562" cy="20645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660" name="Google: 2017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2017</a:t>
            </a:r>
          </a:p>
        </p:txBody>
      </p:sp>
      <p:pic>
        <p:nvPicPr>
          <p:cNvPr id="661" name="Screenshot 2025-10-31 at 00.00.56.png" descr="Screenshot 2025-10-31 at 00.00.5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30219" y="6866662"/>
            <a:ext cx="20923562" cy="2064520"/>
          </a:xfrm>
          <a:prstGeom prst="rect">
            <a:avLst/>
          </a:prstGeom>
          <a:ln w="12700">
            <a:miter lim="400000"/>
          </a:ln>
        </p:spPr>
      </p:pic>
      <p:sp>
        <p:nvSpPr>
          <p:cNvPr id="662" name="Rectangle"/>
          <p:cNvSpPr/>
          <p:nvPr/>
        </p:nvSpPr>
        <p:spPr>
          <a:xfrm>
            <a:off x="19357787" y="7096039"/>
            <a:ext cx="809201" cy="1216773"/>
          </a:xfrm>
          <a:prstGeom prst="rect">
            <a:avLst/>
          </a:prstGeom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63" name="Rectangle"/>
          <p:cNvSpPr/>
          <p:nvPr/>
        </p:nvSpPr>
        <p:spPr>
          <a:xfrm>
            <a:off x="12920775" y="6914981"/>
            <a:ext cx="809201" cy="1216773"/>
          </a:xfrm>
          <a:prstGeom prst="rect">
            <a:avLst/>
          </a:prstGeom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666" name="Google: 2018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2018</a:t>
            </a:r>
          </a:p>
        </p:txBody>
      </p:sp>
      <p:pic>
        <p:nvPicPr>
          <p:cNvPr id="667" name="Screenshot 2025-10-30 at 23.59.37.png" descr="Screenshot 2025-10-30 at 23.59.3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27389" y="6608842"/>
            <a:ext cx="21129222" cy="21034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670" name="Google: 2018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Google: 2018</a:t>
            </a:r>
          </a:p>
        </p:txBody>
      </p:sp>
      <p:pic>
        <p:nvPicPr>
          <p:cNvPr id="671" name="Screenshot 2025-10-30 at 23.59.37.png" descr="Screenshot 2025-10-30 at 23.59.3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27389" y="6608842"/>
            <a:ext cx="21129222" cy="2103469"/>
          </a:xfrm>
          <a:prstGeom prst="rect">
            <a:avLst/>
          </a:prstGeom>
          <a:ln w="12700">
            <a:miter lim="400000"/>
          </a:ln>
        </p:spPr>
      </p:pic>
      <p:sp>
        <p:nvSpPr>
          <p:cNvPr id="672" name="Rectangle"/>
          <p:cNvSpPr/>
          <p:nvPr/>
        </p:nvSpPr>
        <p:spPr>
          <a:xfrm>
            <a:off x="19491359" y="6859072"/>
            <a:ext cx="3188599" cy="1216772"/>
          </a:xfrm>
          <a:prstGeom prst="rect">
            <a:avLst/>
          </a:prstGeom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675" name="SPMI: 2022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SPMI: 2022</a:t>
            </a:r>
          </a:p>
        </p:txBody>
      </p:sp>
      <p:pic>
        <p:nvPicPr>
          <p:cNvPr id="676" name="Screenshot 2025-10-31 at 00.02.26.png" descr="Screenshot 2025-10-31 at 00.02.2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00553" y="5915776"/>
            <a:ext cx="21582894" cy="39735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679" name="SPMI: 2022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SPMI: 2022</a:t>
            </a:r>
          </a:p>
        </p:txBody>
      </p:sp>
      <p:pic>
        <p:nvPicPr>
          <p:cNvPr id="680" name="Screenshot 2025-10-31 at 00.02.26.png" descr="Screenshot 2025-10-31 at 00.02.2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00553" y="5915776"/>
            <a:ext cx="21582894" cy="3973596"/>
          </a:xfrm>
          <a:prstGeom prst="rect">
            <a:avLst/>
          </a:prstGeom>
          <a:ln w="12700">
            <a:miter lim="400000"/>
          </a:ln>
        </p:spPr>
      </p:pic>
      <p:sp>
        <p:nvSpPr>
          <p:cNvPr id="681" name="Line"/>
          <p:cNvSpPr/>
          <p:nvPr/>
        </p:nvSpPr>
        <p:spPr>
          <a:xfrm>
            <a:off x="20707666" y="4167534"/>
            <a:ext cx="1" cy="179605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82" name="Internal LM"/>
          <p:cNvSpPr txBox="1"/>
          <p:nvPr/>
        </p:nvSpPr>
        <p:spPr>
          <a:xfrm>
            <a:off x="19690775" y="3488606"/>
            <a:ext cx="2033779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Internal LM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685" name="SPMI: 2022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SPMI: 2022</a:t>
            </a:r>
          </a:p>
        </p:txBody>
      </p:sp>
      <p:pic>
        <p:nvPicPr>
          <p:cNvPr id="686" name="Screenshot 2025-10-31 at 00.02.26.png" descr="Screenshot 2025-10-31 at 00.02.2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00553" y="5915776"/>
            <a:ext cx="21582894" cy="3973596"/>
          </a:xfrm>
          <a:prstGeom prst="rect">
            <a:avLst/>
          </a:prstGeom>
          <a:ln w="12700">
            <a:miter lim="400000"/>
          </a:ln>
        </p:spPr>
      </p:pic>
      <p:sp>
        <p:nvSpPr>
          <p:cNvPr id="687" name="Line"/>
          <p:cNvSpPr/>
          <p:nvPr/>
        </p:nvSpPr>
        <p:spPr>
          <a:xfrm>
            <a:off x="20707666" y="4167534"/>
            <a:ext cx="1" cy="179605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88" name="Internal LM"/>
          <p:cNvSpPr txBox="1"/>
          <p:nvPr/>
        </p:nvSpPr>
        <p:spPr>
          <a:xfrm>
            <a:off x="19690775" y="3488606"/>
            <a:ext cx="2033779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Internal LM</a:t>
            </a:r>
          </a:p>
        </p:txBody>
      </p:sp>
      <p:sp>
        <p:nvSpPr>
          <p:cNvPr id="689" name="Line"/>
          <p:cNvSpPr/>
          <p:nvPr/>
        </p:nvSpPr>
        <p:spPr>
          <a:xfrm flipV="1">
            <a:off x="12618541" y="9680371"/>
            <a:ext cx="1" cy="179605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90" name="external LM"/>
          <p:cNvSpPr txBox="1"/>
          <p:nvPr/>
        </p:nvSpPr>
        <p:spPr>
          <a:xfrm>
            <a:off x="11555933" y="11548261"/>
            <a:ext cx="2125219" cy="548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external LM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Функция смешения"/>
          <p:cNvSpPr txBox="1"/>
          <p:nvPr>
            <p:ph type="title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200"/>
            </a:lvl1pPr>
          </a:lstStyle>
          <a:p>
            <a:pPr/>
            <a:r>
              <a:t>Функция смешения</a:t>
            </a:r>
          </a:p>
        </p:txBody>
      </p:sp>
      <p:sp>
        <p:nvSpPr>
          <p:cNvPr id="693" name="SPMI: 2022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SPMI: 2022</a:t>
            </a:r>
          </a:p>
        </p:txBody>
      </p:sp>
      <p:pic>
        <p:nvPicPr>
          <p:cNvPr id="694" name="Screenshot 2025-10-31 at 00.02.26.png" descr="Screenshot 2025-10-31 at 00.02.2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00553" y="5915776"/>
            <a:ext cx="21582894" cy="3973596"/>
          </a:xfrm>
          <a:prstGeom prst="rect">
            <a:avLst/>
          </a:prstGeom>
          <a:ln w="12700">
            <a:miter lim="400000"/>
          </a:ln>
        </p:spPr>
      </p:pic>
      <p:sp>
        <p:nvSpPr>
          <p:cNvPr id="695" name="Line"/>
          <p:cNvSpPr/>
          <p:nvPr/>
        </p:nvSpPr>
        <p:spPr>
          <a:xfrm>
            <a:off x="20707666" y="4167534"/>
            <a:ext cx="1" cy="179605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96" name="Internal LM"/>
          <p:cNvSpPr txBox="1"/>
          <p:nvPr/>
        </p:nvSpPr>
        <p:spPr>
          <a:xfrm>
            <a:off x="19690775" y="3488606"/>
            <a:ext cx="2033779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Internal LM</a:t>
            </a:r>
          </a:p>
        </p:txBody>
      </p:sp>
      <p:sp>
        <p:nvSpPr>
          <p:cNvPr id="697" name="Line"/>
          <p:cNvSpPr/>
          <p:nvPr/>
        </p:nvSpPr>
        <p:spPr>
          <a:xfrm flipV="1">
            <a:off x="12618541" y="9680371"/>
            <a:ext cx="1" cy="179605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98" name="external LM"/>
          <p:cNvSpPr txBox="1"/>
          <p:nvPr/>
        </p:nvSpPr>
        <p:spPr>
          <a:xfrm>
            <a:off x="11555933" y="11548261"/>
            <a:ext cx="2125219" cy="548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external LM</a:t>
            </a:r>
          </a:p>
        </p:txBody>
      </p:sp>
      <p:sp>
        <p:nvSpPr>
          <p:cNvPr id="699" name="Line"/>
          <p:cNvSpPr/>
          <p:nvPr/>
        </p:nvSpPr>
        <p:spPr>
          <a:xfrm flipV="1">
            <a:off x="17366417" y="9680371"/>
            <a:ext cx="1" cy="179605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00" name="регуляризация на длину"/>
          <p:cNvSpPr txBox="1"/>
          <p:nvPr/>
        </p:nvSpPr>
        <p:spPr>
          <a:xfrm>
            <a:off x="15127661" y="11548261"/>
            <a:ext cx="4477513" cy="548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регуляризация на длину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Модели адаптации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Модели адаптации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Лингвистическая модель (LM)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Лингвистическая модель (LM)</a:t>
            </a:r>
          </a:p>
        </p:txBody>
      </p:sp>
      <p:sp>
        <p:nvSpPr>
          <p:cNvPr id="707" name="Оценивает лог-вероятность луча на каждом шаге"/>
          <p:cNvSpPr txBox="1"/>
          <p:nvPr>
            <p:ph type="body" sz="half" idx="1"/>
          </p:nvPr>
        </p:nvSpPr>
        <p:spPr>
          <a:xfrm>
            <a:off x="1846313" y="4675491"/>
            <a:ext cx="18603834" cy="5644645"/>
          </a:xfrm>
          <a:prstGeom prst="rect">
            <a:avLst/>
          </a:prstGeom>
        </p:spPr>
        <p:txBody>
          <a:bodyPr lIns="50800" tIns="50800" rIns="50800" bIns="50800"/>
          <a:lstStyle>
            <a:lvl1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lvl1pPr>
          </a:lstStyle>
          <a:p>
            <a:pPr/>
            <a:r>
              <a:t>Оценивает лог-вероятность луча на каждом шаге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Лингвистическая модель (LM)</a:t>
            </a:r>
          </a:p>
        </p:txBody>
      </p:sp>
      <p:sp>
        <p:nvSpPr>
          <p:cNvPr id="710" name="Оценивает лог-вероятность луча на каждом шаге…"/>
          <p:cNvSpPr txBox="1"/>
          <p:nvPr>
            <p:ph type="body" sz="half" idx="1"/>
          </p:nvPr>
        </p:nvSpPr>
        <p:spPr>
          <a:xfrm>
            <a:off x="1846313" y="4675491"/>
            <a:ext cx="18603834" cy="5644645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Оценивает лог-вероятность луча на каждом шаге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Токенизация не обязательно должна быть как в основной модели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Лингвистическая модель (LM)</a:t>
            </a:r>
          </a:p>
        </p:txBody>
      </p:sp>
      <p:sp>
        <p:nvSpPr>
          <p:cNvPr id="713" name="Оценивает лог-вероятность луча на каждом шаге…"/>
          <p:cNvSpPr txBox="1"/>
          <p:nvPr>
            <p:ph type="body" sz="half" idx="1"/>
          </p:nvPr>
        </p:nvSpPr>
        <p:spPr>
          <a:xfrm>
            <a:off x="1846313" y="4675491"/>
            <a:ext cx="18603834" cy="5644645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Оценивает лог-вероятность луча на каждом шаге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Токенизация не обязательно должна быть как в основной модели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Модель однонаправленная, учитывается только предыдущий контекст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Лингвистическая модель (LM)</a:t>
            </a:r>
          </a:p>
        </p:txBody>
      </p:sp>
      <p:sp>
        <p:nvSpPr>
          <p:cNvPr id="716" name="Оценивает лог-вероятность луча на каждом шаге…"/>
          <p:cNvSpPr txBox="1"/>
          <p:nvPr>
            <p:ph type="body" sz="half" idx="1"/>
          </p:nvPr>
        </p:nvSpPr>
        <p:spPr>
          <a:xfrm>
            <a:off x="1846313" y="4675491"/>
            <a:ext cx="18603834" cy="5644645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Оценивает лог-вероятность луча на каждом шаге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Токенизация не обязательно должна быть как в основной модели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Модель однонаправленная, учитывается только предыдущий контекст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3600"/>
            </a:pPr>
            <a:r>
              <a:t>Для быстрого инференса обучают преимущественно маленькие модели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лингвистических моделей</a:t>
            </a:r>
          </a:p>
        </p:txBody>
      </p:sp>
      <p:sp>
        <p:nvSpPr>
          <p:cNvPr id="719" name="Line"/>
          <p:cNvSpPr/>
          <p:nvPr/>
        </p:nvSpPr>
        <p:spPr>
          <a:xfrm flipV="1">
            <a:off x="11191921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20" name="Line"/>
          <p:cNvSpPr/>
          <p:nvPr/>
        </p:nvSpPr>
        <p:spPr>
          <a:xfrm flipV="1">
            <a:off x="17290512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21" name="Line"/>
          <p:cNvSpPr/>
          <p:nvPr/>
        </p:nvSpPr>
        <p:spPr>
          <a:xfrm>
            <a:off x="1231204" y="4859402"/>
            <a:ext cx="223574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22" name="N-Gram"/>
          <p:cNvSpPr txBox="1"/>
          <p:nvPr/>
        </p:nvSpPr>
        <p:spPr>
          <a:xfrm>
            <a:off x="6934550" y="3604126"/>
            <a:ext cx="2416151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  <p:sp>
        <p:nvSpPr>
          <p:cNvPr id="723" name="RNN"/>
          <p:cNvSpPr txBox="1"/>
          <p:nvPr/>
        </p:nvSpPr>
        <p:spPr>
          <a:xfrm>
            <a:off x="13512288" y="3604126"/>
            <a:ext cx="1457859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RNN</a:t>
            </a:r>
          </a:p>
        </p:txBody>
      </p:sp>
      <p:sp>
        <p:nvSpPr>
          <p:cNvPr id="724" name="Transformer"/>
          <p:cNvSpPr txBox="1"/>
          <p:nvPr/>
        </p:nvSpPr>
        <p:spPr>
          <a:xfrm>
            <a:off x="18771217" y="3604126"/>
            <a:ext cx="3658515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Transformer</a:t>
            </a:r>
          </a:p>
        </p:txBody>
      </p:sp>
      <p:sp>
        <p:nvSpPr>
          <p:cNvPr id="725" name="Line"/>
          <p:cNvSpPr/>
          <p:nvPr/>
        </p:nvSpPr>
        <p:spPr>
          <a:xfrm flipV="1">
            <a:off x="5093329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26" name="Аспект"/>
          <p:cNvSpPr txBox="1"/>
          <p:nvPr/>
        </p:nvSpPr>
        <p:spPr>
          <a:xfrm>
            <a:off x="1775952" y="3604126"/>
            <a:ext cx="2229003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i="1" sz="4800">
                <a:solidFill>
                  <a:srgbClr val="000000"/>
                </a:solidFill>
              </a:defRPr>
            </a:lvl1pPr>
          </a:lstStyle>
          <a:p>
            <a:pPr/>
            <a:r>
              <a:t>Аспект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лингвистических моделей</a:t>
            </a:r>
          </a:p>
        </p:txBody>
      </p:sp>
      <p:sp>
        <p:nvSpPr>
          <p:cNvPr id="729" name="Line"/>
          <p:cNvSpPr/>
          <p:nvPr/>
        </p:nvSpPr>
        <p:spPr>
          <a:xfrm flipV="1">
            <a:off x="11191921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30" name="Line"/>
          <p:cNvSpPr/>
          <p:nvPr/>
        </p:nvSpPr>
        <p:spPr>
          <a:xfrm flipV="1">
            <a:off x="17290512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31" name="Line"/>
          <p:cNvSpPr/>
          <p:nvPr/>
        </p:nvSpPr>
        <p:spPr>
          <a:xfrm>
            <a:off x="1231204" y="4859402"/>
            <a:ext cx="223574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32" name="N-Gram"/>
          <p:cNvSpPr txBox="1"/>
          <p:nvPr/>
        </p:nvSpPr>
        <p:spPr>
          <a:xfrm>
            <a:off x="6934550" y="3604126"/>
            <a:ext cx="2416151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  <p:sp>
        <p:nvSpPr>
          <p:cNvPr id="733" name="RNN"/>
          <p:cNvSpPr txBox="1"/>
          <p:nvPr/>
        </p:nvSpPr>
        <p:spPr>
          <a:xfrm>
            <a:off x="13512288" y="3604126"/>
            <a:ext cx="1457859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RNN</a:t>
            </a:r>
          </a:p>
        </p:txBody>
      </p:sp>
      <p:sp>
        <p:nvSpPr>
          <p:cNvPr id="734" name="Transformer"/>
          <p:cNvSpPr txBox="1"/>
          <p:nvPr/>
        </p:nvSpPr>
        <p:spPr>
          <a:xfrm>
            <a:off x="18771217" y="3604126"/>
            <a:ext cx="3658515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Transformer</a:t>
            </a:r>
          </a:p>
        </p:txBody>
      </p:sp>
      <p:sp>
        <p:nvSpPr>
          <p:cNvPr id="735" name="Line"/>
          <p:cNvSpPr/>
          <p:nvPr/>
        </p:nvSpPr>
        <p:spPr>
          <a:xfrm flipV="1">
            <a:off x="5093329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36" name="Аспект"/>
          <p:cNvSpPr txBox="1"/>
          <p:nvPr/>
        </p:nvSpPr>
        <p:spPr>
          <a:xfrm>
            <a:off x="1775952" y="3604126"/>
            <a:ext cx="2229003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i="1" sz="4800">
                <a:solidFill>
                  <a:srgbClr val="000000"/>
                </a:solidFill>
              </a:defRPr>
            </a:lvl1pPr>
          </a:lstStyle>
          <a:p>
            <a:pPr/>
            <a:r>
              <a:t>Аспект</a:t>
            </a:r>
          </a:p>
        </p:txBody>
      </p:sp>
      <p:sp>
        <p:nvSpPr>
          <p:cNvPr id="737" name="Обучение"/>
          <p:cNvSpPr txBox="1"/>
          <p:nvPr/>
        </p:nvSpPr>
        <p:spPr>
          <a:xfrm>
            <a:off x="1801403" y="5829647"/>
            <a:ext cx="217810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600">
                <a:solidFill>
                  <a:srgbClr val="000000"/>
                </a:solidFill>
              </a:defRPr>
            </a:lvl1pPr>
          </a:lstStyle>
          <a:p>
            <a:pPr/>
            <a:r>
              <a:t>Обучение</a:t>
            </a:r>
          </a:p>
        </p:txBody>
      </p:sp>
      <p:sp>
        <p:nvSpPr>
          <p:cNvPr id="738" name="Быстро"/>
          <p:cNvSpPr txBox="1"/>
          <p:nvPr/>
        </p:nvSpPr>
        <p:spPr>
          <a:xfrm>
            <a:off x="7273945" y="5829647"/>
            <a:ext cx="173736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Быстро</a:t>
            </a:r>
          </a:p>
        </p:txBody>
      </p:sp>
      <p:sp>
        <p:nvSpPr>
          <p:cNvPr id="739" name="Медленно"/>
          <p:cNvSpPr txBox="1"/>
          <p:nvPr/>
        </p:nvSpPr>
        <p:spPr>
          <a:xfrm>
            <a:off x="13088844" y="5829647"/>
            <a:ext cx="2304747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740" name="Медленно"/>
          <p:cNvSpPr txBox="1"/>
          <p:nvPr/>
        </p:nvSpPr>
        <p:spPr>
          <a:xfrm>
            <a:off x="19448101" y="5829647"/>
            <a:ext cx="2304746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лингвистических моделей</a:t>
            </a:r>
          </a:p>
        </p:txBody>
      </p:sp>
      <p:sp>
        <p:nvSpPr>
          <p:cNvPr id="743" name="Line"/>
          <p:cNvSpPr/>
          <p:nvPr/>
        </p:nvSpPr>
        <p:spPr>
          <a:xfrm flipV="1">
            <a:off x="11191921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44" name="Line"/>
          <p:cNvSpPr/>
          <p:nvPr/>
        </p:nvSpPr>
        <p:spPr>
          <a:xfrm flipV="1">
            <a:off x="17290512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45" name="Line"/>
          <p:cNvSpPr/>
          <p:nvPr/>
        </p:nvSpPr>
        <p:spPr>
          <a:xfrm>
            <a:off x="1231204" y="4859402"/>
            <a:ext cx="223574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46" name="N-Gram"/>
          <p:cNvSpPr txBox="1"/>
          <p:nvPr/>
        </p:nvSpPr>
        <p:spPr>
          <a:xfrm>
            <a:off x="6934550" y="3604126"/>
            <a:ext cx="2416151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  <p:sp>
        <p:nvSpPr>
          <p:cNvPr id="747" name="RNN"/>
          <p:cNvSpPr txBox="1"/>
          <p:nvPr/>
        </p:nvSpPr>
        <p:spPr>
          <a:xfrm>
            <a:off x="13512288" y="3604126"/>
            <a:ext cx="1457859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RNN</a:t>
            </a:r>
          </a:p>
        </p:txBody>
      </p:sp>
      <p:sp>
        <p:nvSpPr>
          <p:cNvPr id="748" name="Transformer"/>
          <p:cNvSpPr txBox="1"/>
          <p:nvPr/>
        </p:nvSpPr>
        <p:spPr>
          <a:xfrm>
            <a:off x="18771217" y="3604126"/>
            <a:ext cx="3658515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Transformer</a:t>
            </a:r>
          </a:p>
        </p:txBody>
      </p:sp>
      <p:sp>
        <p:nvSpPr>
          <p:cNvPr id="749" name="Line"/>
          <p:cNvSpPr/>
          <p:nvPr/>
        </p:nvSpPr>
        <p:spPr>
          <a:xfrm flipV="1">
            <a:off x="5093329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50" name="Аспект"/>
          <p:cNvSpPr txBox="1"/>
          <p:nvPr/>
        </p:nvSpPr>
        <p:spPr>
          <a:xfrm>
            <a:off x="1775952" y="3604126"/>
            <a:ext cx="2229003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i="1" sz="4800">
                <a:solidFill>
                  <a:srgbClr val="000000"/>
                </a:solidFill>
              </a:defRPr>
            </a:lvl1pPr>
          </a:lstStyle>
          <a:p>
            <a:pPr/>
            <a:r>
              <a:t>Аспект</a:t>
            </a:r>
          </a:p>
        </p:txBody>
      </p:sp>
      <p:sp>
        <p:nvSpPr>
          <p:cNvPr id="751" name="Обучение"/>
          <p:cNvSpPr txBox="1"/>
          <p:nvPr/>
        </p:nvSpPr>
        <p:spPr>
          <a:xfrm>
            <a:off x="1801403" y="5829647"/>
            <a:ext cx="217810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600">
                <a:solidFill>
                  <a:srgbClr val="000000"/>
                </a:solidFill>
              </a:defRPr>
            </a:lvl1pPr>
          </a:lstStyle>
          <a:p>
            <a:pPr/>
            <a:r>
              <a:t>Обучение</a:t>
            </a:r>
          </a:p>
        </p:txBody>
      </p:sp>
      <p:sp>
        <p:nvSpPr>
          <p:cNvPr id="752" name="Быстро"/>
          <p:cNvSpPr txBox="1"/>
          <p:nvPr/>
        </p:nvSpPr>
        <p:spPr>
          <a:xfrm>
            <a:off x="7273945" y="5829647"/>
            <a:ext cx="173736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Быстро</a:t>
            </a:r>
          </a:p>
        </p:txBody>
      </p:sp>
      <p:sp>
        <p:nvSpPr>
          <p:cNvPr id="753" name="Медленно"/>
          <p:cNvSpPr txBox="1"/>
          <p:nvPr/>
        </p:nvSpPr>
        <p:spPr>
          <a:xfrm>
            <a:off x="13088844" y="5829647"/>
            <a:ext cx="2304747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754" name="Медленно"/>
          <p:cNvSpPr txBox="1"/>
          <p:nvPr/>
        </p:nvSpPr>
        <p:spPr>
          <a:xfrm>
            <a:off x="19448101" y="5829647"/>
            <a:ext cx="2304746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755" name="Инференс"/>
          <p:cNvSpPr txBox="1"/>
          <p:nvPr/>
        </p:nvSpPr>
        <p:spPr>
          <a:xfrm>
            <a:off x="1722993" y="7422089"/>
            <a:ext cx="2334921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600">
                <a:solidFill>
                  <a:srgbClr val="000000"/>
                </a:solidFill>
              </a:defRPr>
            </a:lvl1pPr>
          </a:lstStyle>
          <a:p>
            <a:pPr/>
            <a:r>
              <a:t>Инференс</a:t>
            </a:r>
          </a:p>
        </p:txBody>
      </p:sp>
      <p:sp>
        <p:nvSpPr>
          <p:cNvPr id="756" name="Мгновенно"/>
          <p:cNvSpPr txBox="1"/>
          <p:nvPr/>
        </p:nvSpPr>
        <p:spPr>
          <a:xfrm>
            <a:off x="6896755" y="7480356"/>
            <a:ext cx="249174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Мгновенно</a:t>
            </a:r>
          </a:p>
        </p:txBody>
      </p:sp>
      <p:sp>
        <p:nvSpPr>
          <p:cNvPr id="757" name="Медленно"/>
          <p:cNvSpPr txBox="1"/>
          <p:nvPr/>
        </p:nvSpPr>
        <p:spPr>
          <a:xfrm>
            <a:off x="13088844" y="7480356"/>
            <a:ext cx="2304747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758" name="Медленно"/>
          <p:cNvSpPr txBox="1"/>
          <p:nvPr/>
        </p:nvSpPr>
        <p:spPr>
          <a:xfrm>
            <a:off x="19448101" y="7480356"/>
            <a:ext cx="2304746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лингвистических моделей</a:t>
            </a:r>
          </a:p>
        </p:txBody>
      </p:sp>
      <p:sp>
        <p:nvSpPr>
          <p:cNvPr id="761" name="Line"/>
          <p:cNvSpPr/>
          <p:nvPr/>
        </p:nvSpPr>
        <p:spPr>
          <a:xfrm flipV="1">
            <a:off x="11191921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62" name="Line"/>
          <p:cNvSpPr/>
          <p:nvPr/>
        </p:nvSpPr>
        <p:spPr>
          <a:xfrm flipV="1">
            <a:off x="17290512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63" name="Line"/>
          <p:cNvSpPr/>
          <p:nvPr/>
        </p:nvSpPr>
        <p:spPr>
          <a:xfrm>
            <a:off x="1231204" y="4859402"/>
            <a:ext cx="223574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64" name="N-Gram"/>
          <p:cNvSpPr txBox="1"/>
          <p:nvPr/>
        </p:nvSpPr>
        <p:spPr>
          <a:xfrm>
            <a:off x="6934550" y="3604126"/>
            <a:ext cx="2416151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  <p:sp>
        <p:nvSpPr>
          <p:cNvPr id="765" name="RNN"/>
          <p:cNvSpPr txBox="1"/>
          <p:nvPr/>
        </p:nvSpPr>
        <p:spPr>
          <a:xfrm>
            <a:off x="13512288" y="3604126"/>
            <a:ext cx="1457859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RNN</a:t>
            </a:r>
          </a:p>
        </p:txBody>
      </p:sp>
      <p:sp>
        <p:nvSpPr>
          <p:cNvPr id="766" name="Transformer"/>
          <p:cNvSpPr txBox="1"/>
          <p:nvPr/>
        </p:nvSpPr>
        <p:spPr>
          <a:xfrm>
            <a:off x="18771217" y="3604126"/>
            <a:ext cx="3658515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Transformer</a:t>
            </a:r>
          </a:p>
        </p:txBody>
      </p:sp>
      <p:sp>
        <p:nvSpPr>
          <p:cNvPr id="767" name="Line"/>
          <p:cNvSpPr/>
          <p:nvPr/>
        </p:nvSpPr>
        <p:spPr>
          <a:xfrm flipV="1">
            <a:off x="5093329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68" name="Аспект"/>
          <p:cNvSpPr txBox="1"/>
          <p:nvPr/>
        </p:nvSpPr>
        <p:spPr>
          <a:xfrm>
            <a:off x="1775952" y="3604126"/>
            <a:ext cx="2229003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i="1" sz="4800">
                <a:solidFill>
                  <a:srgbClr val="000000"/>
                </a:solidFill>
              </a:defRPr>
            </a:lvl1pPr>
          </a:lstStyle>
          <a:p>
            <a:pPr/>
            <a:r>
              <a:t>Аспект</a:t>
            </a:r>
          </a:p>
        </p:txBody>
      </p:sp>
      <p:sp>
        <p:nvSpPr>
          <p:cNvPr id="769" name="Обучение"/>
          <p:cNvSpPr txBox="1"/>
          <p:nvPr/>
        </p:nvSpPr>
        <p:spPr>
          <a:xfrm>
            <a:off x="1801403" y="5829647"/>
            <a:ext cx="217810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600">
                <a:solidFill>
                  <a:srgbClr val="000000"/>
                </a:solidFill>
              </a:defRPr>
            </a:lvl1pPr>
          </a:lstStyle>
          <a:p>
            <a:pPr/>
            <a:r>
              <a:t>Обучение</a:t>
            </a:r>
          </a:p>
        </p:txBody>
      </p:sp>
      <p:sp>
        <p:nvSpPr>
          <p:cNvPr id="770" name="Быстро"/>
          <p:cNvSpPr txBox="1"/>
          <p:nvPr/>
        </p:nvSpPr>
        <p:spPr>
          <a:xfrm>
            <a:off x="7273945" y="5829647"/>
            <a:ext cx="173736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Быстро</a:t>
            </a:r>
          </a:p>
        </p:txBody>
      </p:sp>
      <p:sp>
        <p:nvSpPr>
          <p:cNvPr id="771" name="Медленно"/>
          <p:cNvSpPr txBox="1"/>
          <p:nvPr/>
        </p:nvSpPr>
        <p:spPr>
          <a:xfrm>
            <a:off x="13088844" y="5829647"/>
            <a:ext cx="2304747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772" name="Медленно"/>
          <p:cNvSpPr txBox="1"/>
          <p:nvPr/>
        </p:nvSpPr>
        <p:spPr>
          <a:xfrm>
            <a:off x="19448101" y="5829647"/>
            <a:ext cx="2304746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773" name="Инференс"/>
          <p:cNvSpPr txBox="1"/>
          <p:nvPr/>
        </p:nvSpPr>
        <p:spPr>
          <a:xfrm>
            <a:off x="1722993" y="7422089"/>
            <a:ext cx="2334921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600">
                <a:solidFill>
                  <a:srgbClr val="000000"/>
                </a:solidFill>
              </a:defRPr>
            </a:lvl1pPr>
          </a:lstStyle>
          <a:p>
            <a:pPr/>
            <a:r>
              <a:t>Инференс</a:t>
            </a:r>
          </a:p>
        </p:txBody>
      </p:sp>
      <p:sp>
        <p:nvSpPr>
          <p:cNvPr id="774" name="Мгновенно"/>
          <p:cNvSpPr txBox="1"/>
          <p:nvPr/>
        </p:nvSpPr>
        <p:spPr>
          <a:xfrm>
            <a:off x="6896755" y="7480356"/>
            <a:ext cx="249174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Мгновенно</a:t>
            </a:r>
          </a:p>
        </p:txBody>
      </p:sp>
      <p:sp>
        <p:nvSpPr>
          <p:cNvPr id="775" name="Медленно"/>
          <p:cNvSpPr txBox="1"/>
          <p:nvPr/>
        </p:nvSpPr>
        <p:spPr>
          <a:xfrm>
            <a:off x="13088844" y="7480356"/>
            <a:ext cx="2304747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776" name="Медленно"/>
          <p:cNvSpPr txBox="1"/>
          <p:nvPr/>
        </p:nvSpPr>
        <p:spPr>
          <a:xfrm>
            <a:off x="19448101" y="7480356"/>
            <a:ext cx="2304746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777" name="Видеопамять"/>
          <p:cNvSpPr txBox="1"/>
          <p:nvPr/>
        </p:nvSpPr>
        <p:spPr>
          <a:xfrm>
            <a:off x="1412554" y="9014532"/>
            <a:ext cx="2955799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600">
                <a:solidFill>
                  <a:srgbClr val="000000"/>
                </a:solidFill>
              </a:defRPr>
            </a:lvl1pPr>
          </a:lstStyle>
          <a:p>
            <a:pPr/>
            <a:r>
              <a:t>Видеопамять</a:t>
            </a:r>
          </a:p>
        </p:txBody>
      </p:sp>
      <p:sp>
        <p:nvSpPr>
          <p:cNvPr id="778" name="Не требуется"/>
          <p:cNvSpPr txBox="1"/>
          <p:nvPr/>
        </p:nvSpPr>
        <p:spPr>
          <a:xfrm>
            <a:off x="6688577" y="9131065"/>
            <a:ext cx="2983688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Не требуется</a:t>
            </a:r>
          </a:p>
        </p:txBody>
      </p:sp>
      <p:sp>
        <p:nvSpPr>
          <p:cNvPr id="779" name="Фиксирована (веса + hidden)"/>
          <p:cNvSpPr txBox="1"/>
          <p:nvPr/>
        </p:nvSpPr>
        <p:spPr>
          <a:xfrm>
            <a:off x="12610842" y="8858014"/>
            <a:ext cx="3260751" cy="11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>
                <a:solidFill>
                  <a:srgbClr val="000000"/>
                </a:solidFill>
              </a:defRPr>
            </a:pPr>
            <a:r>
              <a:t>Фиксирована</a:t>
            </a:r>
            <a:br/>
            <a:r>
              <a:t>(веса + hidden)</a:t>
            </a:r>
          </a:p>
        </p:txBody>
      </p:sp>
      <p:sp>
        <p:nvSpPr>
          <p:cNvPr id="780" name="Растёт от длины контекста"/>
          <p:cNvSpPr txBox="1"/>
          <p:nvPr/>
        </p:nvSpPr>
        <p:spPr>
          <a:xfrm>
            <a:off x="17625245" y="9131065"/>
            <a:ext cx="5950459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Растёт от длины контекста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лингвистических моделей</a:t>
            </a:r>
          </a:p>
        </p:txBody>
      </p:sp>
      <p:sp>
        <p:nvSpPr>
          <p:cNvPr id="783" name="Line"/>
          <p:cNvSpPr/>
          <p:nvPr/>
        </p:nvSpPr>
        <p:spPr>
          <a:xfrm flipV="1">
            <a:off x="11191921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84" name="Line"/>
          <p:cNvSpPr/>
          <p:nvPr/>
        </p:nvSpPr>
        <p:spPr>
          <a:xfrm flipV="1">
            <a:off x="17290512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85" name="Line"/>
          <p:cNvSpPr/>
          <p:nvPr/>
        </p:nvSpPr>
        <p:spPr>
          <a:xfrm>
            <a:off x="1231204" y="4859402"/>
            <a:ext cx="223574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86" name="N-Gram"/>
          <p:cNvSpPr txBox="1"/>
          <p:nvPr/>
        </p:nvSpPr>
        <p:spPr>
          <a:xfrm>
            <a:off x="6934550" y="3604126"/>
            <a:ext cx="2416151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  <p:sp>
        <p:nvSpPr>
          <p:cNvPr id="787" name="RNN"/>
          <p:cNvSpPr txBox="1"/>
          <p:nvPr/>
        </p:nvSpPr>
        <p:spPr>
          <a:xfrm>
            <a:off x="13512288" y="3604126"/>
            <a:ext cx="1457859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RNN</a:t>
            </a:r>
          </a:p>
        </p:txBody>
      </p:sp>
      <p:sp>
        <p:nvSpPr>
          <p:cNvPr id="788" name="Transformer"/>
          <p:cNvSpPr txBox="1"/>
          <p:nvPr/>
        </p:nvSpPr>
        <p:spPr>
          <a:xfrm>
            <a:off x="18771217" y="3604126"/>
            <a:ext cx="3658515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Transformer</a:t>
            </a:r>
          </a:p>
        </p:txBody>
      </p:sp>
      <p:sp>
        <p:nvSpPr>
          <p:cNvPr id="789" name="Line"/>
          <p:cNvSpPr/>
          <p:nvPr/>
        </p:nvSpPr>
        <p:spPr>
          <a:xfrm flipV="1">
            <a:off x="5093329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90" name="Аспект"/>
          <p:cNvSpPr txBox="1"/>
          <p:nvPr/>
        </p:nvSpPr>
        <p:spPr>
          <a:xfrm>
            <a:off x="1775952" y="3604126"/>
            <a:ext cx="2229003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i="1" sz="4800">
                <a:solidFill>
                  <a:srgbClr val="000000"/>
                </a:solidFill>
              </a:defRPr>
            </a:lvl1pPr>
          </a:lstStyle>
          <a:p>
            <a:pPr/>
            <a:r>
              <a:t>Аспект</a:t>
            </a:r>
          </a:p>
        </p:txBody>
      </p:sp>
      <p:sp>
        <p:nvSpPr>
          <p:cNvPr id="791" name="Обучение"/>
          <p:cNvSpPr txBox="1"/>
          <p:nvPr/>
        </p:nvSpPr>
        <p:spPr>
          <a:xfrm>
            <a:off x="1801403" y="5829647"/>
            <a:ext cx="217810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600">
                <a:solidFill>
                  <a:srgbClr val="000000"/>
                </a:solidFill>
              </a:defRPr>
            </a:lvl1pPr>
          </a:lstStyle>
          <a:p>
            <a:pPr/>
            <a:r>
              <a:t>Обучение</a:t>
            </a:r>
          </a:p>
        </p:txBody>
      </p:sp>
      <p:sp>
        <p:nvSpPr>
          <p:cNvPr id="792" name="Быстро"/>
          <p:cNvSpPr txBox="1"/>
          <p:nvPr/>
        </p:nvSpPr>
        <p:spPr>
          <a:xfrm>
            <a:off x="7273945" y="5829647"/>
            <a:ext cx="173736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Быстро</a:t>
            </a:r>
          </a:p>
        </p:txBody>
      </p:sp>
      <p:sp>
        <p:nvSpPr>
          <p:cNvPr id="793" name="Медленно"/>
          <p:cNvSpPr txBox="1"/>
          <p:nvPr/>
        </p:nvSpPr>
        <p:spPr>
          <a:xfrm>
            <a:off x="13088844" y="5829647"/>
            <a:ext cx="2304747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794" name="Медленно"/>
          <p:cNvSpPr txBox="1"/>
          <p:nvPr/>
        </p:nvSpPr>
        <p:spPr>
          <a:xfrm>
            <a:off x="19448101" y="5829647"/>
            <a:ext cx="2304746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795" name="Инференс"/>
          <p:cNvSpPr txBox="1"/>
          <p:nvPr/>
        </p:nvSpPr>
        <p:spPr>
          <a:xfrm>
            <a:off x="1722993" y="7422089"/>
            <a:ext cx="2334921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600">
                <a:solidFill>
                  <a:srgbClr val="000000"/>
                </a:solidFill>
              </a:defRPr>
            </a:lvl1pPr>
          </a:lstStyle>
          <a:p>
            <a:pPr/>
            <a:r>
              <a:t>Инференс</a:t>
            </a:r>
          </a:p>
        </p:txBody>
      </p:sp>
      <p:sp>
        <p:nvSpPr>
          <p:cNvPr id="796" name="Мгновенно"/>
          <p:cNvSpPr txBox="1"/>
          <p:nvPr/>
        </p:nvSpPr>
        <p:spPr>
          <a:xfrm>
            <a:off x="6896755" y="7480356"/>
            <a:ext cx="249174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Мгновенно</a:t>
            </a:r>
          </a:p>
        </p:txBody>
      </p:sp>
      <p:sp>
        <p:nvSpPr>
          <p:cNvPr id="797" name="Медленно"/>
          <p:cNvSpPr txBox="1"/>
          <p:nvPr/>
        </p:nvSpPr>
        <p:spPr>
          <a:xfrm>
            <a:off x="13088844" y="7480356"/>
            <a:ext cx="2304747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798" name="Медленно"/>
          <p:cNvSpPr txBox="1"/>
          <p:nvPr/>
        </p:nvSpPr>
        <p:spPr>
          <a:xfrm>
            <a:off x="19448101" y="7480356"/>
            <a:ext cx="2304746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799" name="Видеопамять"/>
          <p:cNvSpPr txBox="1"/>
          <p:nvPr/>
        </p:nvSpPr>
        <p:spPr>
          <a:xfrm>
            <a:off x="1412554" y="9014532"/>
            <a:ext cx="2955799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600">
                <a:solidFill>
                  <a:srgbClr val="000000"/>
                </a:solidFill>
              </a:defRPr>
            </a:lvl1pPr>
          </a:lstStyle>
          <a:p>
            <a:pPr/>
            <a:r>
              <a:t>Видеопамять</a:t>
            </a:r>
          </a:p>
        </p:txBody>
      </p:sp>
      <p:sp>
        <p:nvSpPr>
          <p:cNvPr id="800" name="Не требуется"/>
          <p:cNvSpPr txBox="1"/>
          <p:nvPr/>
        </p:nvSpPr>
        <p:spPr>
          <a:xfrm>
            <a:off x="6688577" y="9131065"/>
            <a:ext cx="2983688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Не требуется</a:t>
            </a:r>
          </a:p>
        </p:txBody>
      </p:sp>
      <p:sp>
        <p:nvSpPr>
          <p:cNvPr id="801" name="Фиксирована (веса + hidden)"/>
          <p:cNvSpPr txBox="1"/>
          <p:nvPr/>
        </p:nvSpPr>
        <p:spPr>
          <a:xfrm>
            <a:off x="12610842" y="8858014"/>
            <a:ext cx="3260751" cy="11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>
                <a:solidFill>
                  <a:srgbClr val="000000"/>
                </a:solidFill>
              </a:defRPr>
            </a:pPr>
            <a:r>
              <a:t>Фиксирована</a:t>
            </a:r>
            <a:br/>
            <a:r>
              <a:t>(веса + hidden)</a:t>
            </a:r>
          </a:p>
        </p:txBody>
      </p:sp>
      <p:sp>
        <p:nvSpPr>
          <p:cNvPr id="802" name="Растёт от длины контекста"/>
          <p:cNvSpPr txBox="1"/>
          <p:nvPr/>
        </p:nvSpPr>
        <p:spPr>
          <a:xfrm>
            <a:off x="17625245" y="9131065"/>
            <a:ext cx="5950459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Растёт от длины контекста</a:t>
            </a:r>
          </a:p>
        </p:txBody>
      </p:sp>
      <p:sp>
        <p:nvSpPr>
          <p:cNvPr id="803" name="Качество"/>
          <p:cNvSpPr txBox="1"/>
          <p:nvPr/>
        </p:nvSpPr>
        <p:spPr>
          <a:xfrm>
            <a:off x="1839579" y="10606975"/>
            <a:ext cx="2101749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600">
                <a:solidFill>
                  <a:srgbClr val="000000"/>
                </a:solidFill>
              </a:defRPr>
            </a:lvl1pPr>
          </a:lstStyle>
          <a:p>
            <a:pPr/>
            <a:r>
              <a:t>Качество</a:t>
            </a:r>
          </a:p>
        </p:txBody>
      </p:sp>
      <p:sp>
        <p:nvSpPr>
          <p:cNvPr id="804" name="Среднее"/>
          <p:cNvSpPr txBox="1"/>
          <p:nvPr/>
        </p:nvSpPr>
        <p:spPr>
          <a:xfrm>
            <a:off x="7191725" y="10606975"/>
            <a:ext cx="197739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Среднее</a:t>
            </a:r>
          </a:p>
        </p:txBody>
      </p:sp>
      <p:sp>
        <p:nvSpPr>
          <p:cNvPr id="805" name="Высокое"/>
          <p:cNvSpPr txBox="1"/>
          <p:nvPr/>
        </p:nvSpPr>
        <p:spPr>
          <a:xfrm>
            <a:off x="13357449" y="10781774"/>
            <a:ext cx="2007566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Высокое</a:t>
            </a:r>
          </a:p>
        </p:txBody>
      </p:sp>
      <p:sp>
        <p:nvSpPr>
          <p:cNvPr id="806" name="Высокое"/>
          <p:cNvSpPr txBox="1"/>
          <p:nvPr/>
        </p:nvSpPr>
        <p:spPr>
          <a:xfrm>
            <a:off x="19610880" y="10781774"/>
            <a:ext cx="2007566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Высокое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Rectangle"/>
          <p:cNvSpPr/>
          <p:nvPr/>
        </p:nvSpPr>
        <p:spPr>
          <a:xfrm>
            <a:off x="11805046" y="3341870"/>
            <a:ext cx="5219775" cy="8248361"/>
          </a:xfrm>
          <a:prstGeom prst="rect">
            <a:avLst/>
          </a:prstGeom>
          <a:solidFill>
            <a:srgbClr val="FFFFFF"/>
          </a:solidFill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09" name="Rectangle"/>
          <p:cNvSpPr/>
          <p:nvPr/>
        </p:nvSpPr>
        <p:spPr>
          <a:xfrm>
            <a:off x="5573915" y="3341870"/>
            <a:ext cx="5219775" cy="8248361"/>
          </a:xfrm>
          <a:prstGeom prst="rect">
            <a:avLst/>
          </a:prstGeom>
          <a:solidFill>
            <a:srgbClr val="FFFFFF"/>
          </a:solidFill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10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лингвистических моделей</a:t>
            </a:r>
          </a:p>
        </p:txBody>
      </p:sp>
      <p:sp>
        <p:nvSpPr>
          <p:cNvPr id="811" name="Line"/>
          <p:cNvSpPr/>
          <p:nvPr/>
        </p:nvSpPr>
        <p:spPr>
          <a:xfrm flipV="1">
            <a:off x="11191921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12" name="Line"/>
          <p:cNvSpPr/>
          <p:nvPr/>
        </p:nvSpPr>
        <p:spPr>
          <a:xfrm flipV="1">
            <a:off x="17290512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13" name="Line"/>
          <p:cNvSpPr/>
          <p:nvPr/>
        </p:nvSpPr>
        <p:spPr>
          <a:xfrm>
            <a:off x="1231204" y="4859402"/>
            <a:ext cx="223574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14" name="N-Gram"/>
          <p:cNvSpPr txBox="1"/>
          <p:nvPr/>
        </p:nvSpPr>
        <p:spPr>
          <a:xfrm>
            <a:off x="6934550" y="3604126"/>
            <a:ext cx="2416151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  <p:sp>
        <p:nvSpPr>
          <p:cNvPr id="815" name="RNN"/>
          <p:cNvSpPr txBox="1"/>
          <p:nvPr/>
        </p:nvSpPr>
        <p:spPr>
          <a:xfrm>
            <a:off x="13512288" y="3604126"/>
            <a:ext cx="1457859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RNN</a:t>
            </a:r>
          </a:p>
        </p:txBody>
      </p:sp>
      <p:sp>
        <p:nvSpPr>
          <p:cNvPr id="816" name="Transformer"/>
          <p:cNvSpPr txBox="1"/>
          <p:nvPr/>
        </p:nvSpPr>
        <p:spPr>
          <a:xfrm>
            <a:off x="18771217" y="3604126"/>
            <a:ext cx="3658515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Transformer</a:t>
            </a:r>
          </a:p>
        </p:txBody>
      </p:sp>
      <p:sp>
        <p:nvSpPr>
          <p:cNvPr id="817" name="Line"/>
          <p:cNvSpPr/>
          <p:nvPr/>
        </p:nvSpPr>
        <p:spPr>
          <a:xfrm flipV="1">
            <a:off x="5093329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18" name="Аспект"/>
          <p:cNvSpPr txBox="1"/>
          <p:nvPr/>
        </p:nvSpPr>
        <p:spPr>
          <a:xfrm>
            <a:off x="1775952" y="3604126"/>
            <a:ext cx="2229003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i="1" sz="4800">
                <a:solidFill>
                  <a:srgbClr val="000000"/>
                </a:solidFill>
              </a:defRPr>
            </a:lvl1pPr>
          </a:lstStyle>
          <a:p>
            <a:pPr/>
            <a:r>
              <a:t>Аспект</a:t>
            </a:r>
          </a:p>
        </p:txBody>
      </p:sp>
      <p:sp>
        <p:nvSpPr>
          <p:cNvPr id="819" name="Обучение"/>
          <p:cNvSpPr txBox="1"/>
          <p:nvPr/>
        </p:nvSpPr>
        <p:spPr>
          <a:xfrm>
            <a:off x="1801403" y="5829647"/>
            <a:ext cx="217810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600">
                <a:solidFill>
                  <a:srgbClr val="000000"/>
                </a:solidFill>
              </a:defRPr>
            </a:lvl1pPr>
          </a:lstStyle>
          <a:p>
            <a:pPr/>
            <a:r>
              <a:t>Обучение</a:t>
            </a:r>
          </a:p>
        </p:txBody>
      </p:sp>
      <p:sp>
        <p:nvSpPr>
          <p:cNvPr id="820" name="Быстро"/>
          <p:cNvSpPr txBox="1"/>
          <p:nvPr/>
        </p:nvSpPr>
        <p:spPr>
          <a:xfrm>
            <a:off x="7273945" y="5829647"/>
            <a:ext cx="173736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Быстро</a:t>
            </a:r>
          </a:p>
        </p:txBody>
      </p:sp>
      <p:sp>
        <p:nvSpPr>
          <p:cNvPr id="821" name="Медленно"/>
          <p:cNvSpPr txBox="1"/>
          <p:nvPr/>
        </p:nvSpPr>
        <p:spPr>
          <a:xfrm>
            <a:off x="13088844" y="5829647"/>
            <a:ext cx="2304747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822" name="Медленно"/>
          <p:cNvSpPr txBox="1"/>
          <p:nvPr/>
        </p:nvSpPr>
        <p:spPr>
          <a:xfrm>
            <a:off x="19448101" y="5829647"/>
            <a:ext cx="2304746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823" name="Инференс"/>
          <p:cNvSpPr txBox="1"/>
          <p:nvPr/>
        </p:nvSpPr>
        <p:spPr>
          <a:xfrm>
            <a:off x="1722993" y="7422089"/>
            <a:ext cx="2334921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600">
                <a:solidFill>
                  <a:srgbClr val="000000"/>
                </a:solidFill>
              </a:defRPr>
            </a:lvl1pPr>
          </a:lstStyle>
          <a:p>
            <a:pPr/>
            <a:r>
              <a:t>Инференс</a:t>
            </a:r>
          </a:p>
        </p:txBody>
      </p:sp>
      <p:sp>
        <p:nvSpPr>
          <p:cNvPr id="824" name="Мгновенно"/>
          <p:cNvSpPr txBox="1"/>
          <p:nvPr/>
        </p:nvSpPr>
        <p:spPr>
          <a:xfrm>
            <a:off x="6896755" y="7480356"/>
            <a:ext cx="249174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Мгновенно</a:t>
            </a:r>
          </a:p>
        </p:txBody>
      </p:sp>
      <p:sp>
        <p:nvSpPr>
          <p:cNvPr id="825" name="Медленно"/>
          <p:cNvSpPr txBox="1"/>
          <p:nvPr/>
        </p:nvSpPr>
        <p:spPr>
          <a:xfrm>
            <a:off x="13088844" y="7480356"/>
            <a:ext cx="2304747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826" name="Медленно"/>
          <p:cNvSpPr txBox="1"/>
          <p:nvPr/>
        </p:nvSpPr>
        <p:spPr>
          <a:xfrm>
            <a:off x="19448101" y="7480356"/>
            <a:ext cx="2304746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827" name="Видеопамять"/>
          <p:cNvSpPr txBox="1"/>
          <p:nvPr/>
        </p:nvSpPr>
        <p:spPr>
          <a:xfrm>
            <a:off x="1412554" y="9014532"/>
            <a:ext cx="2955799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600">
                <a:solidFill>
                  <a:srgbClr val="000000"/>
                </a:solidFill>
              </a:defRPr>
            </a:lvl1pPr>
          </a:lstStyle>
          <a:p>
            <a:pPr/>
            <a:r>
              <a:t>Видеопамять</a:t>
            </a:r>
          </a:p>
        </p:txBody>
      </p:sp>
      <p:sp>
        <p:nvSpPr>
          <p:cNvPr id="828" name="Не требуется"/>
          <p:cNvSpPr txBox="1"/>
          <p:nvPr/>
        </p:nvSpPr>
        <p:spPr>
          <a:xfrm>
            <a:off x="6688577" y="9131065"/>
            <a:ext cx="2983688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Не требуется</a:t>
            </a:r>
          </a:p>
        </p:txBody>
      </p:sp>
      <p:sp>
        <p:nvSpPr>
          <p:cNvPr id="829" name="Фиксирована (веса + hidden)"/>
          <p:cNvSpPr txBox="1"/>
          <p:nvPr/>
        </p:nvSpPr>
        <p:spPr>
          <a:xfrm>
            <a:off x="12610842" y="8858014"/>
            <a:ext cx="3260751" cy="11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>
                <a:solidFill>
                  <a:srgbClr val="000000"/>
                </a:solidFill>
              </a:defRPr>
            </a:pPr>
            <a:r>
              <a:t>Фиксирована</a:t>
            </a:r>
            <a:br/>
            <a:r>
              <a:t>(веса + hidden)</a:t>
            </a:r>
          </a:p>
        </p:txBody>
      </p:sp>
      <p:sp>
        <p:nvSpPr>
          <p:cNvPr id="830" name="Растёт от длины контекста"/>
          <p:cNvSpPr txBox="1"/>
          <p:nvPr/>
        </p:nvSpPr>
        <p:spPr>
          <a:xfrm>
            <a:off x="17625245" y="9131065"/>
            <a:ext cx="5950459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Растёт от длины контекста</a:t>
            </a:r>
          </a:p>
        </p:txBody>
      </p:sp>
      <p:sp>
        <p:nvSpPr>
          <p:cNvPr id="831" name="Качество"/>
          <p:cNvSpPr txBox="1"/>
          <p:nvPr/>
        </p:nvSpPr>
        <p:spPr>
          <a:xfrm>
            <a:off x="1839579" y="10606975"/>
            <a:ext cx="2101749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600">
                <a:solidFill>
                  <a:srgbClr val="000000"/>
                </a:solidFill>
              </a:defRPr>
            </a:lvl1pPr>
          </a:lstStyle>
          <a:p>
            <a:pPr/>
            <a:r>
              <a:t>Качество</a:t>
            </a:r>
          </a:p>
        </p:txBody>
      </p:sp>
      <p:sp>
        <p:nvSpPr>
          <p:cNvPr id="832" name="Среднее"/>
          <p:cNvSpPr txBox="1"/>
          <p:nvPr/>
        </p:nvSpPr>
        <p:spPr>
          <a:xfrm>
            <a:off x="7191725" y="10606975"/>
            <a:ext cx="197739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Среднее</a:t>
            </a:r>
          </a:p>
        </p:txBody>
      </p:sp>
      <p:sp>
        <p:nvSpPr>
          <p:cNvPr id="833" name="Высокое"/>
          <p:cNvSpPr txBox="1"/>
          <p:nvPr/>
        </p:nvSpPr>
        <p:spPr>
          <a:xfrm>
            <a:off x="13357449" y="10781774"/>
            <a:ext cx="2007566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Высокое</a:t>
            </a:r>
          </a:p>
        </p:txBody>
      </p:sp>
      <p:sp>
        <p:nvSpPr>
          <p:cNvPr id="834" name="Высокое"/>
          <p:cNvSpPr txBox="1"/>
          <p:nvPr/>
        </p:nvSpPr>
        <p:spPr>
          <a:xfrm>
            <a:off x="19610880" y="10781774"/>
            <a:ext cx="2007566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Высокое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Rectangle"/>
          <p:cNvSpPr/>
          <p:nvPr/>
        </p:nvSpPr>
        <p:spPr>
          <a:xfrm>
            <a:off x="17581342" y="3365566"/>
            <a:ext cx="6066641" cy="8248361"/>
          </a:xfrm>
          <a:prstGeom prst="rect">
            <a:avLst/>
          </a:prstGeom>
          <a:solidFill>
            <a:srgbClr val="FFFFFF"/>
          </a:solidFill>
          <a:ln w="1270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7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Типы лингвистических моделей</a:t>
            </a:r>
          </a:p>
        </p:txBody>
      </p:sp>
      <p:sp>
        <p:nvSpPr>
          <p:cNvPr id="838" name="Line"/>
          <p:cNvSpPr/>
          <p:nvPr/>
        </p:nvSpPr>
        <p:spPr>
          <a:xfrm flipV="1">
            <a:off x="11191921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39" name="Line"/>
          <p:cNvSpPr/>
          <p:nvPr/>
        </p:nvSpPr>
        <p:spPr>
          <a:xfrm flipV="1">
            <a:off x="17290512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40" name="Line"/>
          <p:cNvSpPr/>
          <p:nvPr/>
        </p:nvSpPr>
        <p:spPr>
          <a:xfrm>
            <a:off x="1231204" y="4859402"/>
            <a:ext cx="223574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41" name="N-Gram"/>
          <p:cNvSpPr txBox="1"/>
          <p:nvPr/>
        </p:nvSpPr>
        <p:spPr>
          <a:xfrm>
            <a:off x="6934550" y="3604126"/>
            <a:ext cx="2416151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  <p:sp>
        <p:nvSpPr>
          <p:cNvPr id="842" name="RNN"/>
          <p:cNvSpPr txBox="1"/>
          <p:nvPr/>
        </p:nvSpPr>
        <p:spPr>
          <a:xfrm>
            <a:off x="13512288" y="3604126"/>
            <a:ext cx="1457859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RNN</a:t>
            </a:r>
          </a:p>
        </p:txBody>
      </p:sp>
      <p:sp>
        <p:nvSpPr>
          <p:cNvPr id="843" name="Transformer"/>
          <p:cNvSpPr txBox="1"/>
          <p:nvPr/>
        </p:nvSpPr>
        <p:spPr>
          <a:xfrm>
            <a:off x="18771217" y="3604126"/>
            <a:ext cx="3658515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Transformer</a:t>
            </a:r>
          </a:p>
        </p:txBody>
      </p:sp>
      <p:sp>
        <p:nvSpPr>
          <p:cNvPr id="844" name="Line"/>
          <p:cNvSpPr/>
          <p:nvPr/>
        </p:nvSpPr>
        <p:spPr>
          <a:xfrm flipV="1">
            <a:off x="5093329" y="3546009"/>
            <a:ext cx="1" cy="850359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45" name="Аспект"/>
          <p:cNvSpPr txBox="1"/>
          <p:nvPr/>
        </p:nvSpPr>
        <p:spPr>
          <a:xfrm>
            <a:off x="1775952" y="3604126"/>
            <a:ext cx="2229003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i="1" sz="4800">
                <a:solidFill>
                  <a:srgbClr val="000000"/>
                </a:solidFill>
              </a:defRPr>
            </a:lvl1pPr>
          </a:lstStyle>
          <a:p>
            <a:pPr/>
            <a:r>
              <a:t>Аспект</a:t>
            </a:r>
          </a:p>
        </p:txBody>
      </p:sp>
      <p:sp>
        <p:nvSpPr>
          <p:cNvPr id="846" name="Обучение"/>
          <p:cNvSpPr txBox="1"/>
          <p:nvPr/>
        </p:nvSpPr>
        <p:spPr>
          <a:xfrm>
            <a:off x="1801403" y="5829647"/>
            <a:ext cx="217810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600">
                <a:solidFill>
                  <a:srgbClr val="000000"/>
                </a:solidFill>
              </a:defRPr>
            </a:lvl1pPr>
          </a:lstStyle>
          <a:p>
            <a:pPr/>
            <a:r>
              <a:t>Обучение</a:t>
            </a:r>
          </a:p>
        </p:txBody>
      </p:sp>
      <p:sp>
        <p:nvSpPr>
          <p:cNvPr id="847" name="Быстро"/>
          <p:cNvSpPr txBox="1"/>
          <p:nvPr/>
        </p:nvSpPr>
        <p:spPr>
          <a:xfrm>
            <a:off x="7273945" y="5829647"/>
            <a:ext cx="173736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Быстро</a:t>
            </a:r>
          </a:p>
        </p:txBody>
      </p:sp>
      <p:sp>
        <p:nvSpPr>
          <p:cNvPr id="848" name="Медленно"/>
          <p:cNvSpPr txBox="1"/>
          <p:nvPr/>
        </p:nvSpPr>
        <p:spPr>
          <a:xfrm>
            <a:off x="13088844" y="5829647"/>
            <a:ext cx="2304747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849" name="Медленно"/>
          <p:cNvSpPr txBox="1"/>
          <p:nvPr/>
        </p:nvSpPr>
        <p:spPr>
          <a:xfrm>
            <a:off x="19448101" y="5829647"/>
            <a:ext cx="2304746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850" name="Инференс"/>
          <p:cNvSpPr txBox="1"/>
          <p:nvPr/>
        </p:nvSpPr>
        <p:spPr>
          <a:xfrm>
            <a:off x="1722993" y="7422089"/>
            <a:ext cx="2334921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600">
                <a:solidFill>
                  <a:srgbClr val="000000"/>
                </a:solidFill>
              </a:defRPr>
            </a:lvl1pPr>
          </a:lstStyle>
          <a:p>
            <a:pPr/>
            <a:r>
              <a:t>Инференс</a:t>
            </a:r>
          </a:p>
        </p:txBody>
      </p:sp>
      <p:sp>
        <p:nvSpPr>
          <p:cNvPr id="851" name="Мгновенно"/>
          <p:cNvSpPr txBox="1"/>
          <p:nvPr/>
        </p:nvSpPr>
        <p:spPr>
          <a:xfrm>
            <a:off x="6896755" y="7480356"/>
            <a:ext cx="249174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Мгновенно</a:t>
            </a:r>
          </a:p>
        </p:txBody>
      </p:sp>
      <p:sp>
        <p:nvSpPr>
          <p:cNvPr id="852" name="Медленно"/>
          <p:cNvSpPr txBox="1"/>
          <p:nvPr/>
        </p:nvSpPr>
        <p:spPr>
          <a:xfrm>
            <a:off x="13088844" y="7480356"/>
            <a:ext cx="2304747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853" name="Медленно"/>
          <p:cNvSpPr txBox="1"/>
          <p:nvPr/>
        </p:nvSpPr>
        <p:spPr>
          <a:xfrm>
            <a:off x="19448101" y="7480356"/>
            <a:ext cx="2304746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854" name="Видеопамять"/>
          <p:cNvSpPr txBox="1"/>
          <p:nvPr/>
        </p:nvSpPr>
        <p:spPr>
          <a:xfrm>
            <a:off x="1412554" y="9014532"/>
            <a:ext cx="2955799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600">
                <a:solidFill>
                  <a:srgbClr val="000000"/>
                </a:solidFill>
              </a:defRPr>
            </a:lvl1pPr>
          </a:lstStyle>
          <a:p>
            <a:pPr/>
            <a:r>
              <a:t>Видеопамять</a:t>
            </a:r>
          </a:p>
        </p:txBody>
      </p:sp>
      <p:sp>
        <p:nvSpPr>
          <p:cNvPr id="855" name="Не требуется"/>
          <p:cNvSpPr txBox="1"/>
          <p:nvPr/>
        </p:nvSpPr>
        <p:spPr>
          <a:xfrm>
            <a:off x="6688577" y="9131065"/>
            <a:ext cx="2983688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Не требуется</a:t>
            </a:r>
          </a:p>
        </p:txBody>
      </p:sp>
      <p:sp>
        <p:nvSpPr>
          <p:cNvPr id="856" name="Фиксирована (веса + hidden)"/>
          <p:cNvSpPr txBox="1"/>
          <p:nvPr/>
        </p:nvSpPr>
        <p:spPr>
          <a:xfrm>
            <a:off x="12610842" y="8858014"/>
            <a:ext cx="3260751" cy="11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>
                <a:solidFill>
                  <a:srgbClr val="000000"/>
                </a:solidFill>
              </a:defRPr>
            </a:pPr>
            <a:r>
              <a:t>Фиксирована</a:t>
            </a:r>
            <a:br/>
            <a:r>
              <a:t>(веса + hidden)</a:t>
            </a:r>
          </a:p>
        </p:txBody>
      </p:sp>
      <p:sp>
        <p:nvSpPr>
          <p:cNvPr id="857" name="Растёт от длины контекста"/>
          <p:cNvSpPr txBox="1"/>
          <p:nvPr/>
        </p:nvSpPr>
        <p:spPr>
          <a:xfrm>
            <a:off x="17625245" y="9131065"/>
            <a:ext cx="5950459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Растёт от длины контекста</a:t>
            </a:r>
          </a:p>
        </p:txBody>
      </p:sp>
      <p:sp>
        <p:nvSpPr>
          <p:cNvPr id="858" name="Качество"/>
          <p:cNvSpPr txBox="1"/>
          <p:nvPr/>
        </p:nvSpPr>
        <p:spPr>
          <a:xfrm>
            <a:off x="1839579" y="10606975"/>
            <a:ext cx="2101749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600">
                <a:solidFill>
                  <a:srgbClr val="000000"/>
                </a:solidFill>
              </a:defRPr>
            </a:lvl1pPr>
          </a:lstStyle>
          <a:p>
            <a:pPr/>
            <a:r>
              <a:t>Качество</a:t>
            </a:r>
          </a:p>
        </p:txBody>
      </p:sp>
      <p:sp>
        <p:nvSpPr>
          <p:cNvPr id="859" name="Среднее"/>
          <p:cNvSpPr txBox="1"/>
          <p:nvPr/>
        </p:nvSpPr>
        <p:spPr>
          <a:xfrm>
            <a:off x="7191725" y="10606975"/>
            <a:ext cx="197739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Среднее</a:t>
            </a:r>
          </a:p>
        </p:txBody>
      </p:sp>
      <p:sp>
        <p:nvSpPr>
          <p:cNvPr id="860" name="Высокое"/>
          <p:cNvSpPr txBox="1"/>
          <p:nvPr/>
        </p:nvSpPr>
        <p:spPr>
          <a:xfrm>
            <a:off x="13357449" y="10781774"/>
            <a:ext cx="2007566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Высокое</a:t>
            </a:r>
          </a:p>
        </p:txBody>
      </p:sp>
      <p:sp>
        <p:nvSpPr>
          <p:cNvPr id="861" name="Высокое"/>
          <p:cNvSpPr txBox="1"/>
          <p:nvPr/>
        </p:nvSpPr>
        <p:spPr>
          <a:xfrm>
            <a:off x="19610880" y="10781774"/>
            <a:ext cx="2007566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Высокое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N-Gram LM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N-Gram LM</a:t>
            </a:r>
          </a:p>
        </p:txBody>
      </p:sp>
      <p:pic>
        <p:nvPicPr>
          <p:cNvPr id="86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01642" y="5070162"/>
            <a:ext cx="11565983" cy="28647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N-Gram LM</a:t>
            </a:r>
          </a:p>
        </p:txBody>
      </p:sp>
      <p:pic>
        <p:nvPicPr>
          <p:cNvPr id="86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01642" y="5070162"/>
            <a:ext cx="11565983" cy="2864773"/>
          </a:xfrm>
          <a:prstGeom prst="rect">
            <a:avLst/>
          </a:prstGeom>
          <a:ln w="12700">
            <a:miter lim="400000"/>
          </a:ln>
        </p:spPr>
      </p:pic>
      <p:pic>
        <p:nvPicPr>
          <p:cNvPr id="870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6883" y="3765198"/>
            <a:ext cx="9867901" cy="1778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N-Gram LM</a:t>
            </a:r>
          </a:p>
        </p:txBody>
      </p:sp>
      <p:pic>
        <p:nvPicPr>
          <p:cNvPr id="87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01642" y="5070162"/>
            <a:ext cx="11565983" cy="2864773"/>
          </a:xfrm>
          <a:prstGeom prst="rect">
            <a:avLst/>
          </a:prstGeom>
          <a:ln w="12700">
            <a:miter lim="400000"/>
          </a:ln>
        </p:spPr>
      </p:pic>
      <p:pic>
        <p:nvPicPr>
          <p:cNvPr id="874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6405" y="7823070"/>
            <a:ext cx="11404601" cy="723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75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96883" y="3765198"/>
            <a:ext cx="9867901" cy="1778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N-Gram LM</a:t>
            </a:r>
          </a:p>
        </p:txBody>
      </p:sp>
      <p:pic>
        <p:nvPicPr>
          <p:cNvPr id="87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01642" y="5070162"/>
            <a:ext cx="11565983" cy="2864773"/>
          </a:xfrm>
          <a:prstGeom prst="rect">
            <a:avLst/>
          </a:prstGeom>
          <a:ln w="12700">
            <a:miter lim="400000"/>
          </a:ln>
        </p:spPr>
      </p:pic>
      <p:pic>
        <p:nvPicPr>
          <p:cNvPr id="879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6405" y="7823070"/>
            <a:ext cx="11404601" cy="723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0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96883" y="3765198"/>
            <a:ext cx="9867901" cy="177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1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97010" y="8883076"/>
            <a:ext cx="12026901" cy="736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N-Gram LM</a:t>
            </a:r>
          </a:p>
        </p:txBody>
      </p:sp>
      <p:pic>
        <p:nvPicPr>
          <p:cNvPr id="88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01642" y="5070162"/>
            <a:ext cx="11565983" cy="2864773"/>
          </a:xfrm>
          <a:prstGeom prst="rect">
            <a:avLst/>
          </a:prstGeom>
          <a:ln w="12700">
            <a:miter lim="400000"/>
          </a:ln>
        </p:spPr>
      </p:pic>
      <p:pic>
        <p:nvPicPr>
          <p:cNvPr id="885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6405" y="7823070"/>
            <a:ext cx="11404601" cy="723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6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96883" y="3765198"/>
            <a:ext cx="9867901" cy="177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7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97010" y="8883076"/>
            <a:ext cx="12026901" cy="736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8" name="Image" descr="Image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259854" y="9955781"/>
            <a:ext cx="13665201" cy="723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9208" y="649857"/>
            <a:ext cx="22826352" cy="12416286"/>
          </a:xfrm>
          <a:prstGeom prst="rect">
            <a:avLst/>
          </a:prstGeom>
          <a:ln w="12700">
            <a:miter lim="400000"/>
          </a:ln>
        </p:spPr>
      </p:pic>
      <p:sp>
        <p:nvSpPr>
          <p:cNvPr id="891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RNN LM</a:t>
            </a:r>
          </a:p>
        </p:txBody>
      </p:sp>
      <p:sp>
        <p:nvSpPr>
          <p:cNvPr id="892" name="Однонаправленная"/>
          <p:cNvSpPr txBox="1"/>
          <p:nvPr/>
        </p:nvSpPr>
        <p:spPr>
          <a:xfrm>
            <a:off x="1282094" y="2243410"/>
            <a:ext cx="286237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solidFill>
                  <a:srgbClr val="000000"/>
                </a:solidFill>
              </a:defRPr>
            </a:lvl1pPr>
          </a:lstStyle>
          <a:p>
            <a:pPr/>
            <a:r>
              <a:t>Однонаправленная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RNN-Transducer"/>
          <p:cNvSpPr txBox="1"/>
          <p:nvPr>
            <p:ph type="title"/>
          </p:nvPr>
        </p:nvSpPr>
        <p:spPr>
          <a:xfrm>
            <a:off x="1206500" y="952500"/>
            <a:ext cx="8155862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  <p:pic>
        <p:nvPicPr>
          <p:cNvPr id="895" name="Screenshot 2025-10-31 at 00.08.40.png" descr="Screenshot 2025-10-31 at 00.08.4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61047" y="2738153"/>
            <a:ext cx="8539333" cy="103228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7" name="Screenshot 2025-10-31 at 00.08.40.png" descr="Screenshot 2025-10-31 at 00.08.4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61047" y="2738153"/>
            <a:ext cx="8539333" cy="10322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898" name="Screenshot 2025-10-30 at 23.42.41.png" descr="Screenshot 2025-10-30 at 23.42.41.png"/>
          <p:cNvPicPr>
            <a:picLocks noChangeAspect="1"/>
          </p:cNvPicPr>
          <p:nvPr/>
        </p:nvPicPr>
        <p:blipFill>
          <a:blip r:embed="rId3">
            <a:extLst/>
          </a:blip>
          <a:srcRect l="51954" t="0" r="0" b="0"/>
          <a:stretch>
            <a:fillRect/>
          </a:stretch>
        </p:blipFill>
        <p:spPr>
          <a:xfrm>
            <a:off x="15406506" y="1125339"/>
            <a:ext cx="8376540" cy="12329108"/>
          </a:xfrm>
          <a:prstGeom prst="rect">
            <a:avLst/>
          </a:prstGeom>
          <a:ln w="12700">
            <a:miter lim="400000"/>
          </a:ln>
        </p:spPr>
      </p:pic>
      <p:sp>
        <p:nvSpPr>
          <p:cNvPr id="899" name="Rectangle"/>
          <p:cNvSpPr/>
          <p:nvPr/>
        </p:nvSpPr>
        <p:spPr>
          <a:xfrm>
            <a:off x="15268232" y="2869995"/>
            <a:ext cx="1599349" cy="71438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00" name="RNN-Transducer"/>
          <p:cNvSpPr txBox="1"/>
          <p:nvPr>
            <p:ph type="title"/>
          </p:nvPr>
        </p:nvSpPr>
        <p:spPr>
          <a:xfrm>
            <a:off x="1206500" y="952500"/>
            <a:ext cx="8131610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2" name="Screenshot 2025-10-31 at 00.08.40.png" descr="Screenshot 2025-10-31 at 00.08.4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61047" y="2738153"/>
            <a:ext cx="8539333" cy="10322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903" name="Screenshot 2025-10-30 at 23.42.41.png" descr="Screenshot 2025-10-30 at 23.42.41.png"/>
          <p:cNvPicPr>
            <a:picLocks noChangeAspect="1"/>
          </p:cNvPicPr>
          <p:nvPr/>
        </p:nvPicPr>
        <p:blipFill>
          <a:blip r:embed="rId3">
            <a:extLst/>
          </a:blip>
          <a:srcRect l="51954" t="0" r="0" b="0"/>
          <a:stretch>
            <a:fillRect/>
          </a:stretch>
        </p:blipFill>
        <p:spPr>
          <a:xfrm>
            <a:off x="15406506" y="1125339"/>
            <a:ext cx="8376540" cy="12329108"/>
          </a:xfrm>
          <a:prstGeom prst="rect">
            <a:avLst/>
          </a:prstGeom>
          <a:ln w="12700">
            <a:miter lim="400000"/>
          </a:ln>
        </p:spPr>
      </p:pic>
      <p:sp>
        <p:nvSpPr>
          <p:cNvPr id="904" name="Rectangle"/>
          <p:cNvSpPr/>
          <p:nvPr/>
        </p:nvSpPr>
        <p:spPr>
          <a:xfrm>
            <a:off x="15268232" y="2869995"/>
            <a:ext cx="1599349" cy="71438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05" name="Line"/>
          <p:cNvSpPr/>
          <p:nvPr/>
        </p:nvSpPr>
        <p:spPr>
          <a:xfrm>
            <a:off x="10020273" y="6223000"/>
            <a:ext cx="6519584" cy="0"/>
          </a:xfrm>
          <a:prstGeom prst="line">
            <a:avLst/>
          </a:prstGeom>
          <a:ln w="762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06" name="RNN-Transducer"/>
          <p:cNvSpPr txBox="1"/>
          <p:nvPr>
            <p:ph type="title"/>
          </p:nvPr>
        </p:nvSpPr>
        <p:spPr>
          <a:xfrm>
            <a:off x="1206500" y="952500"/>
            <a:ext cx="7904732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Screenshot 2025-10-31 at 00.08.40.png" descr="Screenshot 2025-10-31 at 00.08.4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61047" y="2738153"/>
            <a:ext cx="8539333" cy="10322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909" name="Screenshot 2025-10-30 at 23.42.41.png" descr="Screenshot 2025-10-30 at 23.42.41.png"/>
          <p:cNvPicPr>
            <a:picLocks noChangeAspect="1"/>
          </p:cNvPicPr>
          <p:nvPr/>
        </p:nvPicPr>
        <p:blipFill>
          <a:blip r:embed="rId3">
            <a:extLst/>
          </a:blip>
          <a:srcRect l="51954" t="0" r="0" b="0"/>
          <a:stretch>
            <a:fillRect/>
          </a:stretch>
        </p:blipFill>
        <p:spPr>
          <a:xfrm>
            <a:off x="15406506" y="1125339"/>
            <a:ext cx="8376540" cy="12329108"/>
          </a:xfrm>
          <a:prstGeom prst="rect">
            <a:avLst/>
          </a:prstGeom>
          <a:ln w="12700">
            <a:miter lim="400000"/>
          </a:ln>
        </p:spPr>
      </p:pic>
      <p:sp>
        <p:nvSpPr>
          <p:cNvPr id="910" name="Rectangle"/>
          <p:cNvSpPr/>
          <p:nvPr/>
        </p:nvSpPr>
        <p:spPr>
          <a:xfrm>
            <a:off x="15268232" y="2869995"/>
            <a:ext cx="1599349" cy="71438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1" name="Line"/>
          <p:cNvSpPr/>
          <p:nvPr/>
        </p:nvSpPr>
        <p:spPr>
          <a:xfrm>
            <a:off x="10020273" y="6223000"/>
            <a:ext cx="6519584" cy="0"/>
          </a:xfrm>
          <a:prstGeom prst="line">
            <a:avLst/>
          </a:prstGeom>
          <a:ln w="762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15" name="Connection Line"/>
          <p:cNvSpPr/>
          <p:nvPr/>
        </p:nvSpPr>
        <p:spPr>
          <a:xfrm>
            <a:off x="6540500" y="392797"/>
            <a:ext cx="12091697" cy="44078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7344" fill="norm" stroke="1" extrusionOk="0">
                <a:moveTo>
                  <a:pt x="0" y="17344"/>
                </a:moveTo>
                <a:cubicBezTo>
                  <a:pt x="12514" y="158"/>
                  <a:pt x="19714" y="-4256"/>
                  <a:pt x="21600" y="4101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913" name="Лог-вероятностная оценка последовательности в луче"/>
          <p:cNvSpPr txBox="1"/>
          <p:nvPr/>
        </p:nvSpPr>
        <p:spPr>
          <a:xfrm>
            <a:off x="10123152" y="2612588"/>
            <a:ext cx="4743146" cy="955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800">
                <a:solidFill>
                  <a:srgbClr val="000000"/>
                </a:solidFill>
              </a:defRPr>
            </a:pPr>
            <a:r>
              <a:t>Лог-вероятностная оценка</a:t>
            </a:r>
            <a:br/>
            <a:r>
              <a:t>последовательности в луче</a:t>
            </a:r>
          </a:p>
        </p:txBody>
      </p:sp>
      <p:sp>
        <p:nvSpPr>
          <p:cNvPr id="914" name="RNN-Transducer"/>
          <p:cNvSpPr txBox="1"/>
          <p:nvPr>
            <p:ph type="title"/>
          </p:nvPr>
        </p:nvSpPr>
        <p:spPr>
          <a:xfrm>
            <a:off x="1206500" y="952500"/>
            <a:ext cx="771117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RNN-Transducer"/>
          <p:cNvSpPr txBox="1"/>
          <p:nvPr>
            <p:ph type="title"/>
          </p:nvPr>
        </p:nvSpPr>
        <p:spPr>
          <a:xfrm>
            <a:off x="1206500" y="952500"/>
            <a:ext cx="771117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  <p:pic>
        <p:nvPicPr>
          <p:cNvPr id="918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73383" y="2615633"/>
            <a:ext cx="16837234" cy="108479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RNN-Transducer"/>
          <p:cNvSpPr txBox="1"/>
          <p:nvPr>
            <p:ph type="title"/>
          </p:nvPr>
        </p:nvSpPr>
        <p:spPr>
          <a:xfrm>
            <a:off x="1206500" y="952500"/>
            <a:ext cx="771117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  <p:pic>
        <p:nvPicPr>
          <p:cNvPr id="921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95606" y="1099038"/>
            <a:ext cx="12908387" cy="8316691"/>
          </a:xfrm>
          <a:prstGeom prst="rect">
            <a:avLst/>
          </a:prstGeom>
          <a:ln w="12700">
            <a:miter lim="400000"/>
          </a:ln>
        </p:spPr>
      </p:pic>
      <p:sp>
        <p:nvSpPr>
          <p:cNvPr id="922" name="N-Gram"/>
          <p:cNvSpPr txBox="1"/>
          <p:nvPr/>
        </p:nvSpPr>
        <p:spPr>
          <a:xfrm>
            <a:off x="1247320" y="2490376"/>
            <a:ext cx="2416150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RNN-Transducer"/>
          <p:cNvSpPr txBox="1"/>
          <p:nvPr>
            <p:ph type="title"/>
          </p:nvPr>
        </p:nvSpPr>
        <p:spPr>
          <a:xfrm>
            <a:off x="1206500" y="952500"/>
            <a:ext cx="771117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  <p:pic>
        <p:nvPicPr>
          <p:cNvPr id="925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0" r="76120" b="44021"/>
          <a:stretch>
            <a:fillRect/>
          </a:stretch>
        </p:blipFill>
        <p:spPr>
          <a:xfrm>
            <a:off x="12133530" y="1146431"/>
            <a:ext cx="7140017" cy="10783806"/>
          </a:xfrm>
          <a:prstGeom prst="rect">
            <a:avLst/>
          </a:prstGeom>
          <a:ln w="12700">
            <a:miter lim="400000"/>
          </a:ln>
        </p:spPr>
      </p:pic>
      <p:sp>
        <p:nvSpPr>
          <p:cNvPr id="926" name="N-Gram"/>
          <p:cNvSpPr txBox="1"/>
          <p:nvPr/>
        </p:nvSpPr>
        <p:spPr>
          <a:xfrm>
            <a:off x="1247320" y="2490376"/>
            <a:ext cx="2416150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RNN-Transducer"/>
          <p:cNvSpPr txBox="1"/>
          <p:nvPr>
            <p:ph type="title"/>
          </p:nvPr>
        </p:nvSpPr>
        <p:spPr>
          <a:xfrm>
            <a:off x="1206500" y="952500"/>
            <a:ext cx="771117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  <p:pic>
        <p:nvPicPr>
          <p:cNvPr id="929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0" r="76120" b="44021"/>
          <a:stretch>
            <a:fillRect/>
          </a:stretch>
        </p:blipFill>
        <p:spPr>
          <a:xfrm>
            <a:off x="12133530" y="1146431"/>
            <a:ext cx="7140017" cy="10783806"/>
          </a:xfrm>
          <a:prstGeom prst="rect">
            <a:avLst/>
          </a:prstGeom>
          <a:ln w="12700">
            <a:miter lim="400000"/>
          </a:ln>
        </p:spPr>
      </p:pic>
      <p:sp>
        <p:nvSpPr>
          <p:cNvPr id="930" name="N-Gram"/>
          <p:cNvSpPr txBox="1"/>
          <p:nvPr/>
        </p:nvSpPr>
        <p:spPr>
          <a:xfrm>
            <a:off x="1247320" y="2490376"/>
            <a:ext cx="2416150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  <p:pic>
        <p:nvPicPr>
          <p:cNvPr id="931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88020" r="58412" b="0"/>
          <a:stretch>
            <a:fillRect/>
          </a:stretch>
        </p:blipFill>
        <p:spPr>
          <a:xfrm>
            <a:off x="1138218" y="3632651"/>
            <a:ext cx="8520593" cy="15813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RNN-Transducer"/>
          <p:cNvSpPr txBox="1"/>
          <p:nvPr>
            <p:ph type="title"/>
          </p:nvPr>
        </p:nvSpPr>
        <p:spPr>
          <a:xfrm>
            <a:off x="1206500" y="952500"/>
            <a:ext cx="771117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  <p:pic>
        <p:nvPicPr>
          <p:cNvPr id="934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0" r="76120" b="44021"/>
          <a:stretch>
            <a:fillRect/>
          </a:stretch>
        </p:blipFill>
        <p:spPr>
          <a:xfrm>
            <a:off x="12133530" y="1146431"/>
            <a:ext cx="7140017" cy="10783806"/>
          </a:xfrm>
          <a:prstGeom prst="rect">
            <a:avLst/>
          </a:prstGeom>
          <a:ln w="12700">
            <a:miter lim="400000"/>
          </a:ln>
        </p:spPr>
      </p:pic>
      <p:sp>
        <p:nvSpPr>
          <p:cNvPr id="935" name="N-Gram"/>
          <p:cNvSpPr txBox="1"/>
          <p:nvPr/>
        </p:nvSpPr>
        <p:spPr>
          <a:xfrm>
            <a:off x="1247320" y="2490376"/>
            <a:ext cx="2416150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  <p:pic>
        <p:nvPicPr>
          <p:cNvPr id="936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88020" r="58412" b="0"/>
          <a:stretch>
            <a:fillRect/>
          </a:stretch>
        </p:blipFill>
        <p:spPr>
          <a:xfrm>
            <a:off x="1138218" y="3632651"/>
            <a:ext cx="8520593" cy="1581380"/>
          </a:xfrm>
          <a:prstGeom prst="rect">
            <a:avLst/>
          </a:prstGeom>
          <a:ln w="12700">
            <a:miter lim="400000"/>
          </a:ln>
        </p:spPr>
      </p:pic>
      <p:sp>
        <p:nvSpPr>
          <p:cNvPr id="937" name="N=3"/>
          <p:cNvSpPr txBox="1"/>
          <p:nvPr/>
        </p:nvSpPr>
        <p:spPr>
          <a:xfrm>
            <a:off x="1281727" y="5269439"/>
            <a:ext cx="972922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N=3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RNN-Transducer"/>
          <p:cNvSpPr txBox="1"/>
          <p:nvPr>
            <p:ph type="title"/>
          </p:nvPr>
        </p:nvSpPr>
        <p:spPr>
          <a:xfrm>
            <a:off x="1206500" y="952500"/>
            <a:ext cx="771117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  <p:pic>
        <p:nvPicPr>
          <p:cNvPr id="940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0" r="76120" b="44021"/>
          <a:stretch>
            <a:fillRect/>
          </a:stretch>
        </p:blipFill>
        <p:spPr>
          <a:xfrm>
            <a:off x="12133530" y="1146431"/>
            <a:ext cx="7140017" cy="10783806"/>
          </a:xfrm>
          <a:prstGeom prst="rect">
            <a:avLst/>
          </a:prstGeom>
          <a:ln w="12700">
            <a:miter lim="400000"/>
          </a:ln>
        </p:spPr>
      </p:pic>
      <p:sp>
        <p:nvSpPr>
          <p:cNvPr id="941" name="N-Gram"/>
          <p:cNvSpPr txBox="1"/>
          <p:nvPr/>
        </p:nvSpPr>
        <p:spPr>
          <a:xfrm>
            <a:off x="1247320" y="2490376"/>
            <a:ext cx="2416150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  <p:pic>
        <p:nvPicPr>
          <p:cNvPr id="942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88020" r="58412" b="0"/>
          <a:stretch>
            <a:fillRect/>
          </a:stretch>
        </p:blipFill>
        <p:spPr>
          <a:xfrm>
            <a:off x="1138218" y="3632651"/>
            <a:ext cx="8520593" cy="1581380"/>
          </a:xfrm>
          <a:prstGeom prst="rect">
            <a:avLst/>
          </a:prstGeom>
          <a:ln w="12700">
            <a:miter lim="400000"/>
          </a:ln>
        </p:spPr>
      </p:pic>
      <p:sp>
        <p:nvSpPr>
          <p:cNvPr id="943" name="N=3"/>
          <p:cNvSpPr txBox="1"/>
          <p:nvPr/>
        </p:nvSpPr>
        <p:spPr>
          <a:xfrm>
            <a:off x="1281727" y="5269439"/>
            <a:ext cx="972922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N=3</a:t>
            </a:r>
          </a:p>
        </p:txBody>
      </p:sp>
      <p:sp>
        <p:nvSpPr>
          <p:cNvPr id="944" name="Шаг 1: [&lt;SOS&gt;]…"/>
          <p:cNvSpPr txBox="1"/>
          <p:nvPr/>
        </p:nvSpPr>
        <p:spPr>
          <a:xfrm>
            <a:off x="1241036" y="6443167"/>
            <a:ext cx="8659678" cy="82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Шаг 1: [&lt;SOS&gt;]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p(blank) = p(blank)  * p(blank | &lt;SOS&gt;)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RNN-Transducer"/>
          <p:cNvSpPr txBox="1"/>
          <p:nvPr>
            <p:ph type="title"/>
          </p:nvPr>
        </p:nvSpPr>
        <p:spPr>
          <a:xfrm>
            <a:off x="1206500" y="952500"/>
            <a:ext cx="771117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  <p:pic>
        <p:nvPicPr>
          <p:cNvPr id="947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0" r="76120" b="44021"/>
          <a:stretch>
            <a:fillRect/>
          </a:stretch>
        </p:blipFill>
        <p:spPr>
          <a:xfrm>
            <a:off x="12133530" y="1146431"/>
            <a:ext cx="7140017" cy="10783806"/>
          </a:xfrm>
          <a:prstGeom prst="rect">
            <a:avLst/>
          </a:prstGeom>
          <a:ln w="12700">
            <a:miter lim="400000"/>
          </a:ln>
        </p:spPr>
      </p:pic>
      <p:sp>
        <p:nvSpPr>
          <p:cNvPr id="948" name="N-Gram"/>
          <p:cNvSpPr txBox="1"/>
          <p:nvPr/>
        </p:nvSpPr>
        <p:spPr>
          <a:xfrm>
            <a:off x="1247320" y="2490376"/>
            <a:ext cx="2416150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  <p:pic>
        <p:nvPicPr>
          <p:cNvPr id="949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88020" r="58412" b="0"/>
          <a:stretch>
            <a:fillRect/>
          </a:stretch>
        </p:blipFill>
        <p:spPr>
          <a:xfrm>
            <a:off x="1138218" y="3632651"/>
            <a:ext cx="8520593" cy="1581380"/>
          </a:xfrm>
          <a:prstGeom prst="rect">
            <a:avLst/>
          </a:prstGeom>
          <a:ln w="12700">
            <a:miter lim="400000"/>
          </a:ln>
        </p:spPr>
      </p:pic>
      <p:sp>
        <p:nvSpPr>
          <p:cNvPr id="950" name="N=3"/>
          <p:cNvSpPr txBox="1"/>
          <p:nvPr/>
        </p:nvSpPr>
        <p:spPr>
          <a:xfrm>
            <a:off x="1281727" y="5269439"/>
            <a:ext cx="972922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N=3</a:t>
            </a:r>
          </a:p>
        </p:txBody>
      </p:sp>
      <p:sp>
        <p:nvSpPr>
          <p:cNvPr id="951" name="Шаг 1: [&lt;SOS&gt;]…"/>
          <p:cNvSpPr txBox="1"/>
          <p:nvPr/>
        </p:nvSpPr>
        <p:spPr>
          <a:xfrm>
            <a:off x="1241036" y="6443167"/>
            <a:ext cx="8659678" cy="82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Шаг 1: [&lt;SOS&gt;]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p(blank) = p(blank)  * p(blank | &lt;SOS&gt;)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RNN-Transducer"/>
          <p:cNvSpPr txBox="1"/>
          <p:nvPr>
            <p:ph type="title"/>
          </p:nvPr>
        </p:nvSpPr>
        <p:spPr>
          <a:xfrm>
            <a:off x="1206500" y="952500"/>
            <a:ext cx="771117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  <p:pic>
        <p:nvPicPr>
          <p:cNvPr id="954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0" r="76120" b="44021"/>
          <a:stretch>
            <a:fillRect/>
          </a:stretch>
        </p:blipFill>
        <p:spPr>
          <a:xfrm>
            <a:off x="12133530" y="1146431"/>
            <a:ext cx="7140017" cy="10783806"/>
          </a:xfrm>
          <a:prstGeom prst="rect">
            <a:avLst/>
          </a:prstGeom>
          <a:ln w="12700">
            <a:miter lim="400000"/>
          </a:ln>
        </p:spPr>
      </p:pic>
      <p:sp>
        <p:nvSpPr>
          <p:cNvPr id="955" name="N-Gram"/>
          <p:cNvSpPr txBox="1"/>
          <p:nvPr/>
        </p:nvSpPr>
        <p:spPr>
          <a:xfrm>
            <a:off x="1247320" y="2490376"/>
            <a:ext cx="2416150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  <p:pic>
        <p:nvPicPr>
          <p:cNvPr id="956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88020" r="58412" b="0"/>
          <a:stretch>
            <a:fillRect/>
          </a:stretch>
        </p:blipFill>
        <p:spPr>
          <a:xfrm>
            <a:off x="1138218" y="3632651"/>
            <a:ext cx="8520593" cy="1581380"/>
          </a:xfrm>
          <a:prstGeom prst="rect">
            <a:avLst/>
          </a:prstGeom>
          <a:ln w="12700">
            <a:miter lim="400000"/>
          </a:ln>
        </p:spPr>
      </p:pic>
      <p:sp>
        <p:nvSpPr>
          <p:cNvPr id="957" name="N=3"/>
          <p:cNvSpPr txBox="1"/>
          <p:nvPr/>
        </p:nvSpPr>
        <p:spPr>
          <a:xfrm>
            <a:off x="1281727" y="5269439"/>
            <a:ext cx="972922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N=3</a:t>
            </a:r>
          </a:p>
        </p:txBody>
      </p:sp>
      <p:sp>
        <p:nvSpPr>
          <p:cNvPr id="958" name="Шаг 1: [&lt;SOS&gt;]…"/>
          <p:cNvSpPr txBox="1"/>
          <p:nvPr/>
        </p:nvSpPr>
        <p:spPr>
          <a:xfrm>
            <a:off x="1241036" y="6443167"/>
            <a:ext cx="8659678" cy="82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Шаг 1: [&lt;SOS&gt;]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p(blank) = p(blank)  * p(blank | &lt;SOS&gt;)</a:t>
            </a:r>
          </a:p>
        </p:txBody>
      </p:sp>
      <p:sp>
        <p:nvSpPr>
          <p:cNvPr id="959" name="Line"/>
          <p:cNvSpPr/>
          <p:nvPr/>
        </p:nvSpPr>
        <p:spPr>
          <a:xfrm flipV="1">
            <a:off x="3094885" y="7265658"/>
            <a:ext cx="1" cy="82051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60" name="1-gram"/>
          <p:cNvSpPr txBox="1"/>
          <p:nvPr/>
        </p:nvSpPr>
        <p:spPr>
          <a:xfrm>
            <a:off x="2477158" y="8024932"/>
            <a:ext cx="123545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1-gram</a:t>
            </a:r>
          </a:p>
        </p:txBody>
      </p:sp>
      <p:sp>
        <p:nvSpPr>
          <p:cNvPr id="961" name="2-gram"/>
          <p:cNvSpPr txBox="1"/>
          <p:nvPr/>
        </p:nvSpPr>
        <p:spPr>
          <a:xfrm>
            <a:off x="4444361" y="8024932"/>
            <a:ext cx="123545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2-gram</a:t>
            </a:r>
          </a:p>
        </p:txBody>
      </p:sp>
      <p:sp>
        <p:nvSpPr>
          <p:cNvPr id="962" name="Line"/>
          <p:cNvSpPr/>
          <p:nvPr/>
        </p:nvSpPr>
        <p:spPr>
          <a:xfrm flipV="1">
            <a:off x="5062088" y="7265658"/>
            <a:ext cx="1" cy="82051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RNN-Transducer"/>
          <p:cNvSpPr txBox="1"/>
          <p:nvPr>
            <p:ph type="title"/>
          </p:nvPr>
        </p:nvSpPr>
        <p:spPr>
          <a:xfrm>
            <a:off x="1206500" y="952500"/>
            <a:ext cx="771117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  <p:pic>
        <p:nvPicPr>
          <p:cNvPr id="965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0" r="76120" b="44021"/>
          <a:stretch>
            <a:fillRect/>
          </a:stretch>
        </p:blipFill>
        <p:spPr>
          <a:xfrm>
            <a:off x="12133530" y="1146431"/>
            <a:ext cx="7140017" cy="10783806"/>
          </a:xfrm>
          <a:prstGeom prst="rect">
            <a:avLst/>
          </a:prstGeom>
          <a:ln w="12700">
            <a:miter lim="400000"/>
          </a:ln>
        </p:spPr>
      </p:pic>
      <p:sp>
        <p:nvSpPr>
          <p:cNvPr id="966" name="N-Gram"/>
          <p:cNvSpPr txBox="1"/>
          <p:nvPr/>
        </p:nvSpPr>
        <p:spPr>
          <a:xfrm>
            <a:off x="1247320" y="2490376"/>
            <a:ext cx="2416150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  <p:pic>
        <p:nvPicPr>
          <p:cNvPr id="967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88020" r="58412" b="0"/>
          <a:stretch>
            <a:fillRect/>
          </a:stretch>
        </p:blipFill>
        <p:spPr>
          <a:xfrm>
            <a:off x="1138218" y="3632651"/>
            <a:ext cx="8520593" cy="1581380"/>
          </a:xfrm>
          <a:prstGeom prst="rect">
            <a:avLst/>
          </a:prstGeom>
          <a:ln w="12700">
            <a:miter lim="400000"/>
          </a:ln>
        </p:spPr>
      </p:pic>
      <p:sp>
        <p:nvSpPr>
          <p:cNvPr id="968" name="N=3"/>
          <p:cNvSpPr txBox="1"/>
          <p:nvPr/>
        </p:nvSpPr>
        <p:spPr>
          <a:xfrm>
            <a:off x="1281727" y="5269439"/>
            <a:ext cx="972922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N=3</a:t>
            </a:r>
          </a:p>
        </p:txBody>
      </p:sp>
      <p:sp>
        <p:nvSpPr>
          <p:cNvPr id="969" name="Шаг 1: [&lt;SOS&gt;]…"/>
          <p:cNvSpPr txBox="1"/>
          <p:nvPr/>
        </p:nvSpPr>
        <p:spPr>
          <a:xfrm>
            <a:off x="1241036" y="6438899"/>
            <a:ext cx="8659678" cy="1197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Шаг 1: [&lt;SOS&gt;]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p(blank) = p(blank)  * p(blank | &lt;SOS&gt;)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p(a) =        p(a)        *  p(a | &lt;SOS&gt;)</a:t>
            </a:r>
          </a:p>
        </p:txBody>
      </p:sp>
      <p:sp>
        <p:nvSpPr>
          <p:cNvPr id="970" name="Line"/>
          <p:cNvSpPr/>
          <p:nvPr/>
        </p:nvSpPr>
        <p:spPr>
          <a:xfrm flipV="1">
            <a:off x="3094885" y="7811661"/>
            <a:ext cx="1" cy="82051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71" name="1-gram"/>
          <p:cNvSpPr txBox="1"/>
          <p:nvPr/>
        </p:nvSpPr>
        <p:spPr>
          <a:xfrm>
            <a:off x="2477158" y="8570935"/>
            <a:ext cx="123545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1-gram</a:t>
            </a:r>
          </a:p>
        </p:txBody>
      </p:sp>
      <p:sp>
        <p:nvSpPr>
          <p:cNvPr id="972" name="2-gram"/>
          <p:cNvSpPr txBox="1"/>
          <p:nvPr/>
        </p:nvSpPr>
        <p:spPr>
          <a:xfrm>
            <a:off x="4444361" y="8570935"/>
            <a:ext cx="123545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2-gram</a:t>
            </a:r>
          </a:p>
        </p:txBody>
      </p:sp>
      <p:sp>
        <p:nvSpPr>
          <p:cNvPr id="973" name="Line"/>
          <p:cNvSpPr/>
          <p:nvPr/>
        </p:nvSpPr>
        <p:spPr>
          <a:xfrm flipV="1">
            <a:off x="5062088" y="7811661"/>
            <a:ext cx="1" cy="82051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RNN-Transducer"/>
          <p:cNvSpPr txBox="1"/>
          <p:nvPr>
            <p:ph type="title"/>
          </p:nvPr>
        </p:nvSpPr>
        <p:spPr>
          <a:xfrm>
            <a:off x="1206500" y="952500"/>
            <a:ext cx="771117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  <p:pic>
        <p:nvPicPr>
          <p:cNvPr id="976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0" r="76120" b="44021"/>
          <a:stretch>
            <a:fillRect/>
          </a:stretch>
        </p:blipFill>
        <p:spPr>
          <a:xfrm>
            <a:off x="12133530" y="1146431"/>
            <a:ext cx="7140017" cy="10783806"/>
          </a:xfrm>
          <a:prstGeom prst="rect">
            <a:avLst/>
          </a:prstGeom>
          <a:ln w="12700">
            <a:miter lim="400000"/>
          </a:ln>
        </p:spPr>
      </p:pic>
      <p:sp>
        <p:nvSpPr>
          <p:cNvPr id="977" name="N-Gram"/>
          <p:cNvSpPr txBox="1"/>
          <p:nvPr/>
        </p:nvSpPr>
        <p:spPr>
          <a:xfrm>
            <a:off x="1247320" y="2490376"/>
            <a:ext cx="2416150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  <p:pic>
        <p:nvPicPr>
          <p:cNvPr id="978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88020" r="58412" b="0"/>
          <a:stretch>
            <a:fillRect/>
          </a:stretch>
        </p:blipFill>
        <p:spPr>
          <a:xfrm>
            <a:off x="1138218" y="3632651"/>
            <a:ext cx="8520593" cy="1581380"/>
          </a:xfrm>
          <a:prstGeom prst="rect">
            <a:avLst/>
          </a:prstGeom>
          <a:ln w="12700">
            <a:miter lim="400000"/>
          </a:ln>
        </p:spPr>
      </p:pic>
      <p:sp>
        <p:nvSpPr>
          <p:cNvPr id="979" name="N=3"/>
          <p:cNvSpPr txBox="1"/>
          <p:nvPr/>
        </p:nvSpPr>
        <p:spPr>
          <a:xfrm>
            <a:off x="1281727" y="5269439"/>
            <a:ext cx="972922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N=3</a:t>
            </a:r>
          </a:p>
        </p:txBody>
      </p:sp>
      <p:sp>
        <p:nvSpPr>
          <p:cNvPr id="980" name="Шаг 1: [&lt;SOS&gt;]…"/>
          <p:cNvSpPr txBox="1"/>
          <p:nvPr/>
        </p:nvSpPr>
        <p:spPr>
          <a:xfrm>
            <a:off x="1241036" y="6438899"/>
            <a:ext cx="8659678" cy="156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Шаг 1: [&lt;SOS&gt;]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p(blank) = p(blank)  * p(blank | &lt;SOS&gt;)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p(a) =        p(a)        *  p(a | &lt;SOS&gt;)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p(b) =        p(b)        * p(b | &lt;SOS&gt;)</a:t>
            </a:r>
          </a:p>
        </p:txBody>
      </p:sp>
      <p:sp>
        <p:nvSpPr>
          <p:cNvPr id="981" name="Line"/>
          <p:cNvSpPr/>
          <p:nvPr/>
        </p:nvSpPr>
        <p:spPr>
          <a:xfrm flipV="1">
            <a:off x="3094885" y="8119719"/>
            <a:ext cx="1" cy="82051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82" name="1-gram"/>
          <p:cNvSpPr txBox="1"/>
          <p:nvPr/>
        </p:nvSpPr>
        <p:spPr>
          <a:xfrm>
            <a:off x="2477158" y="8878993"/>
            <a:ext cx="123545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1-gram</a:t>
            </a:r>
          </a:p>
        </p:txBody>
      </p:sp>
      <p:sp>
        <p:nvSpPr>
          <p:cNvPr id="983" name="2-gram"/>
          <p:cNvSpPr txBox="1"/>
          <p:nvPr/>
        </p:nvSpPr>
        <p:spPr>
          <a:xfrm>
            <a:off x="4444361" y="8878993"/>
            <a:ext cx="123545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2-gram</a:t>
            </a:r>
          </a:p>
        </p:txBody>
      </p:sp>
      <p:sp>
        <p:nvSpPr>
          <p:cNvPr id="984" name="Line"/>
          <p:cNvSpPr/>
          <p:nvPr/>
        </p:nvSpPr>
        <p:spPr>
          <a:xfrm flipV="1">
            <a:off x="5062088" y="8119719"/>
            <a:ext cx="1" cy="82051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RNN-Transducer"/>
          <p:cNvSpPr txBox="1"/>
          <p:nvPr>
            <p:ph type="title"/>
          </p:nvPr>
        </p:nvSpPr>
        <p:spPr>
          <a:xfrm>
            <a:off x="1206500" y="952500"/>
            <a:ext cx="771117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  <p:pic>
        <p:nvPicPr>
          <p:cNvPr id="987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0" r="76120" b="44021"/>
          <a:stretch>
            <a:fillRect/>
          </a:stretch>
        </p:blipFill>
        <p:spPr>
          <a:xfrm>
            <a:off x="12133530" y="1146431"/>
            <a:ext cx="7140017" cy="10783806"/>
          </a:xfrm>
          <a:prstGeom prst="rect">
            <a:avLst/>
          </a:prstGeom>
          <a:ln w="12700">
            <a:miter lim="400000"/>
          </a:ln>
        </p:spPr>
      </p:pic>
      <p:sp>
        <p:nvSpPr>
          <p:cNvPr id="988" name="N-Gram"/>
          <p:cNvSpPr txBox="1"/>
          <p:nvPr/>
        </p:nvSpPr>
        <p:spPr>
          <a:xfrm>
            <a:off x="1247320" y="2490376"/>
            <a:ext cx="2416150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  <p:pic>
        <p:nvPicPr>
          <p:cNvPr id="989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88020" r="58412" b="0"/>
          <a:stretch>
            <a:fillRect/>
          </a:stretch>
        </p:blipFill>
        <p:spPr>
          <a:xfrm>
            <a:off x="1138218" y="3632651"/>
            <a:ext cx="8520593" cy="1581380"/>
          </a:xfrm>
          <a:prstGeom prst="rect">
            <a:avLst/>
          </a:prstGeom>
          <a:ln w="12700">
            <a:miter lim="400000"/>
          </a:ln>
        </p:spPr>
      </p:pic>
      <p:sp>
        <p:nvSpPr>
          <p:cNvPr id="990" name="N=3"/>
          <p:cNvSpPr txBox="1"/>
          <p:nvPr/>
        </p:nvSpPr>
        <p:spPr>
          <a:xfrm>
            <a:off x="1281727" y="5269439"/>
            <a:ext cx="972922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N=3</a:t>
            </a:r>
          </a:p>
        </p:txBody>
      </p:sp>
      <p:sp>
        <p:nvSpPr>
          <p:cNvPr id="991" name="Шаг 1: [&lt;SOS&gt;]…"/>
          <p:cNvSpPr txBox="1"/>
          <p:nvPr/>
        </p:nvSpPr>
        <p:spPr>
          <a:xfrm>
            <a:off x="1241036" y="6438899"/>
            <a:ext cx="8659678" cy="156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Шаг 1: [&lt;SOS&gt;]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p(blank) = p(blank)  * p(blank | &lt;SOS&gt;)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p(a) =        p(a)        *  p(a | &lt;SOS&gt;)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p(b) =        p(b)        * p(b | &lt;SOS&gt;)</a:t>
            </a:r>
          </a:p>
        </p:txBody>
      </p:sp>
      <p:sp>
        <p:nvSpPr>
          <p:cNvPr id="992" name="Line"/>
          <p:cNvSpPr/>
          <p:nvPr/>
        </p:nvSpPr>
        <p:spPr>
          <a:xfrm flipV="1">
            <a:off x="3094885" y="8119719"/>
            <a:ext cx="1" cy="82051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93" name="1-gram"/>
          <p:cNvSpPr txBox="1"/>
          <p:nvPr/>
        </p:nvSpPr>
        <p:spPr>
          <a:xfrm>
            <a:off x="2477158" y="8878993"/>
            <a:ext cx="123545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1-gram</a:t>
            </a:r>
          </a:p>
        </p:txBody>
      </p:sp>
      <p:sp>
        <p:nvSpPr>
          <p:cNvPr id="994" name="2-gram"/>
          <p:cNvSpPr txBox="1"/>
          <p:nvPr/>
        </p:nvSpPr>
        <p:spPr>
          <a:xfrm>
            <a:off x="4444361" y="8878993"/>
            <a:ext cx="123545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2-gram</a:t>
            </a:r>
          </a:p>
        </p:txBody>
      </p:sp>
      <p:sp>
        <p:nvSpPr>
          <p:cNvPr id="995" name="Line"/>
          <p:cNvSpPr/>
          <p:nvPr/>
        </p:nvSpPr>
        <p:spPr>
          <a:xfrm flipV="1">
            <a:off x="5062088" y="8119719"/>
            <a:ext cx="1" cy="82051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96" name="Шаг 1: [&lt;SOS&gt;]…"/>
          <p:cNvSpPr txBox="1"/>
          <p:nvPr/>
        </p:nvSpPr>
        <p:spPr>
          <a:xfrm>
            <a:off x="1241036" y="9825208"/>
            <a:ext cx="8659678" cy="82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Шаг 1: [&lt;SOS&gt;]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log(p(blank)) = log(p(blank))  + log(p(blank | &lt;SOS&gt;))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RNN-Transducer"/>
          <p:cNvSpPr txBox="1"/>
          <p:nvPr>
            <p:ph type="title"/>
          </p:nvPr>
        </p:nvSpPr>
        <p:spPr>
          <a:xfrm>
            <a:off x="1206500" y="952500"/>
            <a:ext cx="771117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  <p:pic>
        <p:nvPicPr>
          <p:cNvPr id="999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0" r="76120" b="44021"/>
          <a:stretch>
            <a:fillRect/>
          </a:stretch>
        </p:blipFill>
        <p:spPr>
          <a:xfrm>
            <a:off x="12133530" y="1146431"/>
            <a:ext cx="7140017" cy="10783806"/>
          </a:xfrm>
          <a:prstGeom prst="rect">
            <a:avLst/>
          </a:prstGeom>
          <a:ln w="12700">
            <a:miter lim="400000"/>
          </a:ln>
        </p:spPr>
      </p:pic>
      <p:sp>
        <p:nvSpPr>
          <p:cNvPr id="1000" name="N-Gram"/>
          <p:cNvSpPr txBox="1"/>
          <p:nvPr/>
        </p:nvSpPr>
        <p:spPr>
          <a:xfrm>
            <a:off x="1247320" y="2490376"/>
            <a:ext cx="2416150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  <p:pic>
        <p:nvPicPr>
          <p:cNvPr id="1001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88020" r="58412" b="0"/>
          <a:stretch>
            <a:fillRect/>
          </a:stretch>
        </p:blipFill>
        <p:spPr>
          <a:xfrm>
            <a:off x="1138218" y="3632651"/>
            <a:ext cx="8520593" cy="1581380"/>
          </a:xfrm>
          <a:prstGeom prst="rect">
            <a:avLst/>
          </a:prstGeom>
          <a:ln w="12700">
            <a:miter lim="400000"/>
          </a:ln>
        </p:spPr>
      </p:pic>
      <p:sp>
        <p:nvSpPr>
          <p:cNvPr id="1002" name="N=3"/>
          <p:cNvSpPr txBox="1"/>
          <p:nvPr/>
        </p:nvSpPr>
        <p:spPr>
          <a:xfrm>
            <a:off x="1281727" y="5269439"/>
            <a:ext cx="972922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N=3</a:t>
            </a:r>
          </a:p>
        </p:txBody>
      </p:sp>
      <p:sp>
        <p:nvSpPr>
          <p:cNvPr id="1003" name="Шаг 1: [&lt;SOS&gt;]…"/>
          <p:cNvSpPr txBox="1"/>
          <p:nvPr/>
        </p:nvSpPr>
        <p:spPr>
          <a:xfrm>
            <a:off x="1241036" y="6438899"/>
            <a:ext cx="8659678" cy="156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Шаг 1: [&lt;SOS&gt;]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p(blank) = p(blank)  * p(blank | &lt;SOS&gt;)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p(a) =        p(a)        *  p(a | &lt;SOS&gt;)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p(b) =        p(b)        * p(b | &lt;SOS&gt;)</a:t>
            </a:r>
          </a:p>
        </p:txBody>
      </p:sp>
      <p:sp>
        <p:nvSpPr>
          <p:cNvPr id="1004" name="Line"/>
          <p:cNvSpPr/>
          <p:nvPr/>
        </p:nvSpPr>
        <p:spPr>
          <a:xfrm flipV="1">
            <a:off x="3094885" y="8119719"/>
            <a:ext cx="1" cy="82051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05" name="1-gram"/>
          <p:cNvSpPr txBox="1"/>
          <p:nvPr/>
        </p:nvSpPr>
        <p:spPr>
          <a:xfrm>
            <a:off x="2477158" y="8878993"/>
            <a:ext cx="123545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1-gram</a:t>
            </a:r>
          </a:p>
        </p:txBody>
      </p:sp>
      <p:sp>
        <p:nvSpPr>
          <p:cNvPr id="1006" name="2-gram"/>
          <p:cNvSpPr txBox="1"/>
          <p:nvPr/>
        </p:nvSpPr>
        <p:spPr>
          <a:xfrm>
            <a:off x="4444361" y="8878993"/>
            <a:ext cx="123545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2-gram</a:t>
            </a:r>
          </a:p>
        </p:txBody>
      </p:sp>
      <p:sp>
        <p:nvSpPr>
          <p:cNvPr id="1007" name="Line"/>
          <p:cNvSpPr/>
          <p:nvPr/>
        </p:nvSpPr>
        <p:spPr>
          <a:xfrm flipV="1">
            <a:off x="5062088" y="8119719"/>
            <a:ext cx="1" cy="82051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08" name="Шаг 1: [&lt;SOS&gt;]…"/>
          <p:cNvSpPr txBox="1"/>
          <p:nvPr/>
        </p:nvSpPr>
        <p:spPr>
          <a:xfrm>
            <a:off x="1241036" y="9825208"/>
            <a:ext cx="8659678" cy="82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Шаг 1: [&lt;SOS&gt;]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log(p(blank)) = log(p(blank))  + log(p(blank | &lt;SOS&gt;))</a:t>
            </a:r>
          </a:p>
        </p:txBody>
      </p:sp>
      <p:sp>
        <p:nvSpPr>
          <p:cNvPr id="1009" name="Общий вид:…"/>
          <p:cNvSpPr txBox="1"/>
          <p:nvPr/>
        </p:nvSpPr>
        <p:spPr>
          <a:xfrm>
            <a:off x="1241036" y="11539846"/>
            <a:ext cx="8659678" cy="82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Общий вид: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log(p(t)) = Sum(log(p(t | t-1, t-2, …, t-N+1)))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RNN-Transducer"/>
          <p:cNvSpPr txBox="1"/>
          <p:nvPr>
            <p:ph type="title"/>
          </p:nvPr>
        </p:nvSpPr>
        <p:spPr>
          <a:xfrm>
            <a:off x="1206500" y="952500"/>
            <a:ext cx="771117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  <p:sp>
        <p:nvSpPr>
          <p:cNvPr id="1012" name="N-Gram"/>
          <p:cNvSpPr txBox="1"/>
          <p:nvPr/>
        </p:nvSpPr>
        <p:spPr>
          <a:xfrm>
            <a:off x="1247320" y="2490376"/>
            <a:ext cx="2416150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N-Gram</a:t>
            </a:r>
          </a:p>
        </p:txBody>
      </p:sp>
      <p:pic>
        <p:nvPicPr>
          <p:cNvPr id="1013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88020" r="58412" b="0"/>
          <a:stretch>
            <a:fillRect/>
          </a:stretch>
        </p:blipFill>
        <p:spPr>
          <a:xfrm>
            <a:off x="1138218" y="3632651"/>
            <a:ext cx="8520593" cy="1581380"/>
          </a:xfrm>
          <a:prstGeom prst="rect">
            <a:avLst/>
          </a:prstGeom>
          <a:ln w="12700">
            <a:miter lim="400000"/>
          </a:ln>
        </p:spPr>
      </p:pic>
      <p:sp>
        <p:nvSpPr>
          <p:cNvPr id="1014" name="N=3"/>
          <p:cNvSpPr txBox="1"/>
          <p:nvPr/>
        </p:nvSpPr>
        <p:spPr>
          <a:xfrm>
            <a:off x="1281727" y="5269439"/>
            <a:ext cx="972922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N=3</a:t>
            </a:r>
          </a:p>
        </p:txBody>
      </p:sp>
      <p:sp>
        <p:nvSpPr>
          <p:cNvPr id="1015" name="Шаг 2: [&lt;SOS&gt;, blank]…"/>
          <p:cNvSpPr txBox="1"/>
          <p:nvPr/>
        </p:nvSpPr>
        <p:spPr>
          <a:xfrm>
            <a:off x="1241036" y="6438899"/>
            <a:ext cx="8659678" cy="156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Шаг 2: [&lt;SOS&gt;, blank]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p(blank) = p(blank)  * p(blank | blank) * p(blank | blank, &lt;SOS&gt;)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p(a) =        p(a)        *  p(a | blank)       * p(a | blank, &lt;SOS&gt;)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p(b) =        p(b)        * p(b | blank)       *  p(b | blank, &lt;SOS&gt;)</a:t>
            </a:r>
          </a:p>
        </p:txBody>
      </p:sp>
      <p:sp>
        <p:nvSpPr>
          <p:cNvPr id="1016" name="Line"/>
          <p:cNvSpPr/>
          <p:nvPr/>
        </p:nvSpPr>
        <p:spPr>
          <a:xfrm flipV="1">
            <a:off x="3094885" y="8119719"/>
            <a:ext cx="1" cy="82051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17" name="1-gram"/>
          <p:cNvSpPr txBox="1"/>
          <p:nvPr/>
        </p:nvSpPr>
        <p:spPr>
          <a:xfrm>
            <a:off x="2477158" y="8878993"/>
            <a:ext cx="123545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1-gram</a:t>
            </a:r>
          </a:p>
        </p:txBody>
      </p:sp>
      <p:sp>
        <p:nvSpPr>
          <p:cNvPr id="1018" name="2-gram"/>
          <p:cNvSpPr txBox="1"/>
          <p:nvPr/>
        </p:nvSpPr>
        <p:spPr>
          <a:xfrm>
            <a:off x="4444361" y="8878993"/>
            <a:ext cx="123545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2-gram</a:t>
            </a:r>
          </a:p>
        </p:txBody>
      </p:sp>
      <p:sp>
        <p:nvSpPr>
          <p:cNvPr id="1019" name="Line"/>
          <p:cNvSpPr/>
          <p:nvPr/>
        </p:nvSpPr>
        <p:spPr>
          <a:xfrm flipV="1">
            <a:off x="5062088" y="8119719"/>
            <a:ext cx="1" cy="82051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1020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0" r="71985" b="41819"/>
          <a:stretch>
            <a:fillRect/>
          </a:stretch>
        </p:blipFill>
        <p:spPr>
          <a:xfrm>
            <a:off x="10107698" y="3438633"/>
            <a:ext cx="4788937" cy="6407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1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27884" t="0" r="38260" b="61864"/>
          <a:stretch>
            <a:fillRect/>
          </a:stretch>
        </p:blipFill>
        <p:spPr>
          <a:xfrm>
            <a:off x="14864677" y="2308398"/>
            <a:ext cx="8066518" cy="5854256"/>
          </a:xfrm>
          <a:prstGeom prst="rect">
            <a:avLst/>
          </a:prstGeom>
          <a:ln w="12700">
            <a:miter lim="400000"/>
          </a:ln>
        </p:spPr>
      </p:pic>
      <p:sp>
        <p:nvSpPr>
          <p:cNvPr id="1022" name="3-gram"/>
          <p:cNvSpPr txBox="1"/>
          <p:nvPr/>
        </p:nvSpPr>
        <p:spPr>
          <a:xfrm>
            <a:off x="6968331" y="8887509"/>
            <a:ext cx="123545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3-gram</a:t>
            </a:r>
          </a:p>
        </p:txBody>
      </p:sp>
      <p:sp>
        <p:nvSpPr>
          <p:cNvPr id="1023" name="Line"/>
          <p:cNvSpPr/>
          <p:nvPr/>
        </p:nvSpPr>
        <p:spPr>
          <a:xfrm flipV="1">
            <a:off x="7586058" y="8128235"/>
            <a:ext cx="1" cy="82051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24" name="Шаг 2: [&lt;SOS&gt;, blank]…"/>
          <p:cNvSpPr txBox="1"/>
          <p:nvPr/>
        </p:nvSpPr>
        <p:spPr>
          <a:xfrm>
            <a:off x="1241036" y="9825208"/>
            <a:ext cx="9581539" cy="82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Шаг 2: [&lt;SOS&gt;, blank]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log(p(a)) = log(p(a))  + log(p(a | blank)) + log(p(a | blank, &lt;SOS&gt;))</a:t>
            </a:r>
          </a:p>
        </p:txBody>
      </p:sp>
      <p:sp>
        <p:nvSpPr>
          <p:cNvPr id="1025" name="Общий вид:…"/>
          <p:cNvSpPr txBox="1"/>
          <p:nvPr/>
        </p:nvSpPr>
        <p:spPr>
          <a:xfrm>
            <a:off x="1241036" y="11539846"/>
            <a:ext cx="8659678" cy="82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Общий вид: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log(p(t)) = Sum(log(p(t | t-1, t-2, …, t-N+1)))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NN-Transducer"/>
          <p:cNvSpPr txBox="1"/>
          <p:nvPr>
            <p:ph type="title"/>
          </p:nvPr>
        </p:nvSpPr>
        <p:spPr>
          <a:xfrm>
            <a:off x="1206500" y="952500"/>
            <a:ext cx="771117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  <p:sp>
        <p:nvSpPr>
          <p:cNvPr id="1028" name="RNN"/>
          <p:cNvSpPr txBox="1"/>
          <p:nvPr/>
        </p:nvSpPr>
        <p:spPr>
          <a:xfrm>
            <a:off x="1247320" y="2490376"/>
            <a:ext cx="1457859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RNN</a:t>
            </a:r>
          </a:p>
        </p:txBody>
      </p:sp>
      <p:pic>
        <p:nvPicPr>
          <p:cNvPr id="1029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88020" r="58412" b="0"/>
          <a:stretch>
            <a:fillRect/>
          </a:stretch>
        </p:blipFill>
        <p:spPr>
          <a:xfrm>
            <a:off x="1138218" y="3632651"/>
            <a:ext cx="8520593" cy="1581380"/>
          </a:xfrm>
          <a:prstGeom prst="rect">
            <a:avLst/>
          </a:prstGeom>
          <a:ln w="12700">
            <a:miter lim="400000"/>
          </a:ln>
        </p:spPr>
      </p:pic>
      <p:sp>
        <p:nvSpPr>
          <p:cNvPr id="1030" name="Шаг 1: [&lt;SOS&gt;]…"/>
          <p:cNvSpPr txBox="1"/>
          <p:nvPr/>
        </p:nvSpPr>
        <p:spPr>
          <a:xfrm>
            <a:off x="1241036" y="6438899"/>
            <a:ext cx="8659678" cy="1197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Шаг 1: [&lt;SOS&gt;]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hidden = h_0 (zeros)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log-score-1, h_1 = log_softmax(RNN(&lt;SOS&gt;, h_0))</a:t>
            </a:r>
          </a:p>
        </p:txBody>
      </p:sp>
      <p:pic>
        <p:nvPicPr>
          <p:cNvPr id="1031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0" r="71985" b="41819"/>
          <a:stretch>
            <a:fillRect/>
          </a:stretch>
        </p:blipFill>
        <p:spPr>
          <a:xfrm>
            <a:off x="10107698" y="3438633"/>
            <a:ext cx="4788937" cy="6407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2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27884" t="0" r="38260" b="61864"/>
          <a:stretch>
            <a:fillRect/>
          </a:stretch>
        </p:blipFill>
        <p:spPr>
          <a:xfrm>
            <a:off x="14864677" y="2308398"/>
            <a:ext cx="8066518" cy="58542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NN-Transducer"/>
          <p:cNvSpPr txBox="1"/>
          <p:nvPr>
            <p:ph type="title"/>
          </p:nvPr>
        </p:nvSpPr>
        <p:spPr>
          <a:xfrm>
            <a:off x="1206500" y="952500"/>
            <a:ext cx="771117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  <p:sp>
        <p:nvSpPr>
          <p:cNvPr id="1035" name="RNN"/>
          <p:cNvSpPr txBox="1"/>
          <p:nvPr/>
        </p:nvSpPr>
        <p:spPr>
          <a:xfrm>
            <a:off x="1247320" y="2490376"/>
            <a:ext cx="1457859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RNN</a:t>
            </a:r>
          </a:p>
        </p:txBody>
      </p:sp>
      <p:pic>
        <p:nvPicPr>
          <p:cNvPr id="1036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88020" r="58412" b="0"/>
          <a:stretch>
            <a:fillRect/>
          </a:stretch>
        </p:blipFill>
        <p:spPr>
          <a:xfrm>
            <a:off x="1138218" y="3632651"/>
            <a:ext cx="8520593" cy="1581380"/>
          </a:xfrm>
          <a:prstGeom prst="rect">
            <a:avLst/>
          </a:prstGeom>
          <a:ln w="12700">
            <a:miter lim="400000"/>
          </a:ln>
        </p:spPr>
      </p:pic>
      <p:sp>
        <p:nvSpPr>
          <p:cNvPr id="1037" name="Шаг 2: [&lt;SOS&gt;, blank]…"/>
          <p:cNvSpPr txBox="1"/>
          <p:nvPr/>
        </p:nvSpPr>
        <p:spPr>
          <a:xfrm>
            <a:off x="1241036" y="6438899"/>
            <a:ext cx="8659678" cy="1197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Шаг 2: [&lt;SOS&gt;, blank]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hidden = h_1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log-score-2, h_2 = log_softmax(RNN(blank, h_1))</a:t>
            </a:r>
          </a:p>
        </p:txBody>
      </p:sp>
      <p:pic>
        <p:nvPicPr>
          <p:cNvPr id="1038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0" r="71985" b="41819"/>
          <a:stretch>
            <a:fillRect/>
          </a:stretch>
        </p:blipFill>
        <p:spPr>
          <a:xfrm>
            <a:off x="10107698" y="3438633"/>
            <a:ext cx="4788937" cy="6407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9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27884" t="0" r="38260" b="61864"/>
          <a:stretch>
            <a:fillRect/>
          </a:stretch>
        </p:blipFill>
        <p:spPr>
          <a:xfrm>
            <a:off x="14864677" y="2308398"/>
            <a:ext cx="8066518" cy="58542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RNN-Transducer"/>
          <p:cNvSpPr txBox="1"/>
          <p:nvPr>
            <p:ph type="title"/>
          </p:nvPr>
        </p:nvSpPr>
        <p:spPr>
          <a:xfrm>
            <a:off x="1206500" y="952500"/>
            <a:ext cx="771117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  <p:sp>
        <p:nvSpPr>
          <p:cNvPr id="1042" name="RNN"/>
          <p:cNvSpPr txBox="1"/>
          <p:nvPr/>
        </p:nvSpPr>
        <p:spPr>
          <a:xfrm>
            <a:off x="1247320" y="2490376"/>
            <a:ext cx="1457859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RNN</a:t>
            </a:r>
          </a:p>
        </p:txBody>
      </p:sp>
      <p:pic>
        <p:nvPicPr>
          <p:cNvPr id="1043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88020" r="58412" b="0"/>
          <a:stretch>
            <a:fillRect/>
          </a:stretch>
        </p:blipFill>
        <p:spPr>
          <a:xfrm>
            <a:off x="1138218" y="3632651"/>
            <a:ext cx="8520593" cy="1581380"/>
          </a:xfrm>
          <a:prstGeom prst="rect">
            <a:avLst/>
          </a:prstGeom>
          <a:ln w="12700">
            <a:miter lim="400000"/>
          </a:ln>
        </p:spPr>
      </p:pic>
      <p:sp>
        <p:nvSpPr>
          <p:cNvPr id="1044" name="Шаг 2: [&lt;SOS&gt;, blank]…"/>
          <p:cNvSpPr txBox="1"/>
          <p:nvPr/>
        </p:nvSpPr>
        <p:spPr>
          <a:xfrm>
            <a:off x="1241036" y="6438899"/>
            <a:ext cx="8659678" cy="1197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Шаг 2: [&lt;SOS&gt;, blank]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hidden = h_1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log-score-2, h_2 = log_softmax(RNN(blank, h_1))</a:t>
            </a:r>
          </a:p>
        </p:txBody>
      </p:sp>
      <p:pic>
        <p:nvPicPr>
          <p:cNvPr id="1045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0" r="71985" b="41819"/>
          <a:stretch>
            <a:fillRect/>
          </a:stretch>
        </p:blipFill>
        <p:spPr>
          <a:xfrm>
            <a:off x="10107698" y="3438633"/>
            <a:ext cx="4788937" cy="6407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6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27884" t="0" r="38260" b="61864"/>
          <a:stretch>
            <a:fillRect/>
          </a:stretch>
        </p:blipFill>
        <p:spPr>
          <a:xfrm>
            <a:off x="14864677" y="2308398"/>
            <a:ext cx="8066518" cy="5854256"/>
          </a:xfrm>
          <a:prstGeom prst="rect">
            <a:avLst/>
          </a:prstGeom>
          <a:ln w="12700">
            <a:miter lim="400000"/>
          </a:ln>
        </p:spPr>
      </p:pic>
      <p:sp>
        <p:nvSpPr>
          <p:cNvPr id="1047" name="log-score-2 - вектор log-вероятностей размера словаря"/>
          <p:cNvSpPr txBox="1"/>
          <p:nvPr/>
        </p:nvSpPr>
        <p:spPr>
          <a:xfrm>
            <a:off x="1241036" y="9066911"/>
            <a:ext cx="865967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log-score-2 - вектор log-вероятностей размера словаря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RNN-Transducer"/>
          <p:cNvSpPr txBox="1"/>
          <p:nvPr>
            <p:ph type="title"/>
          </p:nvPr>
        </p:nvSpPr>
        <p:spPr>
          <a:xfrm>
            <a:off x="1206500" y="952500"/>
            <a:ext cx="771117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Инференс LM</a:t>
            </a:r>
          </a:p>
        </p:txBody>
      </p:sp>
      <p:sp>
        <p:nvSpPr>
          <p:cNvPr id="1050" name="RNN"/>
          <p:cNvSpPr txBox="1"/>
          <p:nvPr/>
        </p:nvSpPr>
        <p:spPr>
          <a:xfrm>
            <a:off x="1247320" y="2490376"/>
            <a:ext cx="1457859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 sz="4800">
                <a:solidFill>
                  <a:srgbClr val="000000"/>
                </a:solidFill>
              </a:defRPr>
            </a:lvl1pPr>
          </a:lstStyle>
          <a:p>
            <a:pPr/>
            <a:r>
              <a:t>RNN</a:t>
            </a:r>
          </a:p>
        </p:txBody>
      </p:sp>
      <p:pic>
        <p:nvPicPr>
          <p:cNvPr id="1051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88020" r="58412" b="0"/>
          <a:stretch>
            <a:fillRect/>
          </a:stretch>
        </p:blipFill>
        <p:spPr>
          <a:xfrm>
            <a:off x="1138218" y="3632651"/>
            <a:ext cx="8520593" cy="1581380"/>
          </a:xfrm>
          <a:prstGeom prst="rect">
            <a:avLst/>
          </a:prstGeom>
          <a:ln w="12700">
            <a:miter lim="400000"/>
          </a:ln>
        </p:spPr>
      </p:pic>
      <p:sp>
        <p:nvSpPr>
          <p:cNvPr id="1052" name="Шаг 2: [&lt;SOS&gt;, blank]…"/>
          <p:cNvSpPr txBox="1"/>
          <p:nvPr/>
        </p:nvSpPr>
        <p:spPr>
          <a:xfrm>
            <a:off x="1241036" y="6438899"/>
            <a:ext cx="8659678" cy="1197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Шаг 2: [&lt;SOS&gt;, blank]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hidden = h_1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log-score-2, h_2 = log_softmax(RNN(blank, h_1))</a:t>
            </a:r>
          </a:p>
        </p:txBody>
      </p:sp>
      <p:pic>
        <p:nvPicPr>
          <p:cNvPr id="1053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0" t="0" r="71985" b="41819"/>
          <a:stretch>
            <a:fillRect/>
          </a:stretch>
        </p:blipFill>
        <p:spPr>
          <a:xfrm>
            <a:off x="10107698" y="3438633"/>
            <a:ext cx="4788937" cy="6407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4" name="Screenshot 2025-10-18 at 13.42.51.png" descr="Screenshot 2025-10-18 at 13.42.51.png"/>
          <p:cNvPicPr>
            <a:picLocks noChangeAspect="1"/>
          </p:cNvPicPr>
          <p:nvPr/>
        </p:nvPicPr>
        <p:blipFill>
          <a:blip r:embed="rId2">
            <a:extLst/>
          </a:blip>
          <a:srcRect l="27884" t="0" r="38260" b="61864"/>
          <a:stretch>
            <a:fillRect/>
          </a:stretch>
        </p:blipFill>
        <p:spPr>
          <a:xfrm>
            <a:off x="14864677" y="2308398"/>
            <a:ext cx="8066518" cy="5854256"/>
          </a:xfrm>
          <a:prstGeom prst="rect">
            <a:avLst/>
          </a:prstGeom>
          <a:ln w="12700">
            <a:miter lim="400000"/>
          </a:ln>
        </p:spPr>
      </p:pic>
      <p:sp>
        <p:nvSpPr>
          <p:cNvPr id="1055" name="log-score-2 - вектор log-вероятностей размера словаря"/>
          <p:cNvSpPr txBox="1"/>
          <p:nvPr/>
        </p:nvSpPr>
        <p:spPr>
          <a:xfrm>
            <a:off x="1241036" y="9066911"/>
            <a:ext cx="865967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log-score-2 - вектор log-вероятностей размера словаря</a:t>
            </a:r>
          </a:p>
        </p:txBody>
      </p:sp>
      <p:sp>
        <p:nvSpPr>
          <p:cNvPr id="1056" name="для каждого луча хранится свой hidden"/>
          <p:cNvSpPr txBox="1"/>
          <p:nvPr/>
        </p:nvSpPr>
        <p:spPr>
          <a:xfrm>
            <a:off x="1241036" y="10764871"/>
            <a:ext cx="865967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для каждого луча хранится свой hidden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RNN-Transducer"/>
          <p:cNvSpPr txBox="1"/>
          <p:nvPr>
            <p:ph type="title"/>
          </p:nvPr>
        </p:nvSpPr>
        <p:spPr>
          <a:xfrm>
            <a:off x="1206500" y="952500"/>
            <a:ext cx="1272739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Keywords / Hotwords</a:t>
            </a:r>
          </a:p>
        </p:txBody>
      </p:sp>
      <p:sp>
        <p:nvSpPr>
          <p:cNvPr id="1059" name="hotword - DLS"/>
          <p:cNvSpPr txBox="1"/>
          <p:nvPr/>
        </p:nvSpPr>
        <p:spPr>
          <a:xfrm>
            <a:off x="1292783" y="2979911"/>
            <a:ext cx="3273096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hotword - DLS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RNN-Transducer"/>
          <p:cNvSpPr txBox="1"/>
          <p:nvPr>
            <p:ph type="title"/>
          </p:nvPr>
        </p:nvSpPr>
        <p:spPr>
          <a:xfrm>
            <a:off x="1206500" y="952500"/>
            <a:ext cx="1272739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Keywords / Hotwords</a:t>
            </a:r>
          </a:p>
        </p:txBody>
      </p:sp>
      <p:sp>
        <p:nvSpPr>
          <p:cNvPr id="1062" name="hotword - DLS"/>
          <p:cNvSpPr txBox="1"/>
          <p:nvPr/>
        </p:nvSpPr>
        <p:spPr>
          <a:xfrm>
            <a:off x="1292783" y="2979911"/>
            <a:ext cx="3273096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hotword - DLS</a:t>
            </a:r>
          </a:p>
        </p:txBody>
      </p:sp>
      <p:sp>
        <p:nvSpPr>
          <p:cNvPr id="1063" name="словарь = {a, b, c, d, l,  s}"/>
          <p:cNvSpPr txBox="1"/>
          <p:nvPr/>
        </p:nvSpPr>
        <p:spPr>
          <a:xfrm>
            <a:off x="1278469" y="4219512"/>
            <a:ext cx="5481829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словарь = {a, b, c, d, l,  s}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RNN-Transducer"/>
          <p:cNvSpPr txBox="1"/>
          <p:nvPr>
            <p:ph type="title"/>
          </p:nvPr>
        </p:nvSpPr>
        <p:spPr>
          <a:xfrm>
            <a:off x="1206500" y="952500"/>
            <a:ext cx="1272739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Keywords / Hotwords</a:t>
            </a:r>
          </a:p>
        </p:txBody>
      </p:sp>
      <p:sp>
        <p:nvSpPr>
          <p:cNvPr id="1066" name="hotword - DLS"/>
          <p:cNvSpPr txBox="1"/>
          <p:nvPr/>
        </p:nvSpPr>
        <p:spPr>
          <a:xfrm>
            <a:off x="1292783" y="2979911"/>
            <a:ext cx="3273096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hotword - DLS</a:t>
            </a:r>
          </a:p>
        </p:txBody>
      </p:sp>
      <p:sp>
        <p:nvSpPr>
          <p:cNvPr id="1067" name="словарь = {a, b, c, d, l,  s}"/>
          <p:cNvSpPr txBox="1"/>
          <p:nvPr/>
        </p:nvSpPr>
        <p:spPr>
          <a:xfrm>
            <a:off x="1278469" y="4219512"/>
            <a:ext cx="5481829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словарь = {a, b, c, d, l,  s}</a:t>
            </a:r>
          </a:p>
        </p:txBody>
      </p:sp>
      <p:sp>
        <p:nvSpPr>
          <p:cNvPr id="1068" name="N-beams = 3"/>
          <p:cNvSpPr txBox="1"/>
          <p:nvPr/>
        </p:nvSpPr>
        <p:spPr>
          <a:xfrm>
            <a:off x="1278469" y="5446874"/>
            <a:ext cx="2785720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N-beams =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RNN-Transducer"/>
          <p:cNvSpPr txBox="1"/>
          <p:nvPr>
            <p:ph type="title"/>
          </p:nvPr>
        </p:nvSpPr>
        <p:spPr>
          <a:xfrm>
            <a:off x="1206500" y="952500"/>
            <a:ext cx="1272739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Keywords / Hotwords</a:t>
            </a:r>
          </a:p>
        </p:txBody>
      </p:sp>
      <p:sp>
        <p:nvSpPr>
          <p:cNvPr id="1071" name="hotword - DLS"/>
          <p:cNvSpPr txBox="1"/>
          <p:nvPr/>
        </p:nvSpPr>
        <p:spPr>
          <a:xfrm>
            <a:off x="1292783" y="2979911"/>
            <a:ext cx="3273096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hotword - DLS</a:t>
            </a:r>
          </a:p>
        </p:txBody>
      </p:sp>
      <p:sp>
        <p:nvSpPr>
          <p:cNvPr id="1072" name="словарь = {a, b, c, d, l,  s}"/>
          <p:cNvSpPr txBox="1"/>
          <p:nvPr/>
        </p:nvSpPr>
        <p:spPr>
          <a:xfrm>
            <a:off x="1278469" y="4219512"/>
            <a:ext cx="5481829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словарь = {a, b, c, d, l,  s}</a:t>
            </a:r>
          </a:p>
        </p:txBody>
      </p:sp>
      <p:sp>
        <p:nvSpPr>
          <p:cNvPr id="1073" name="N-beams = 3"/>
          <p:cNvSpPr txBox="1"/>
          <p:nvPr/>
        </p:nvSpPr>
        <p:spPr>
          <a:xfrm>
            <a:off x="1278469" y="5446874"/>
            <a:ext cx="2785720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N-beams = 3</a:t>
            </a:r>
          </a:p>
        </p:txBody>
      </p:sp>
      <p:sp>
        <p:nvSpPr>
          <p:cNvPr id="1074" name="гипотеза 1:…"/>
          <p:cNvSpPr txBox="1"/>
          <p:nvPr/>
        </p:nvSpPr>
        <p:spPr>
          <a:xfrm>
            <a:off x="1210575" y="6888261"/>
            <a:ext cx="2650389" cy="2819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1: 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2: 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3: </a:t>
            </a:r>
          </a:p>
        </p:txBody>
      </p:sp>
      <p:sp>
        <p:nvSpPr>
          <p:cNvPr id="1075" name="score 1:…"/>
          <p:cNvSpPr txBox="1"/>
          <p:nvPr/>
        </p:nvSpPr>
        <p:spPr>
          <a:xfrm>
            <a:off x="10476021" y="6888261"/>
            <a:ext cx="1875893" cy="2819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score 1: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score 2: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score 3: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RNN-Transducer"/>
          <p:cNvSpPr txBox="1"/>
          <p:nvPr>
            <p:ph type="title"/>
          </p:nvPr>
        </p:nvSpPr>
        <p:spPr>
          <a:xfrm>
            <a:off x="1206500" y="952500"/>
            <a:ext cx="1272739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Keywords / Hotwords</a:t>
            </a:r>
          </a:p>
        </p:txBody>
      </p:sp>
      <p:sp>
        <p:nvSpPr>
          <p:cNvPr id="1078" name="hotword - DLS"/>
          <p:cNvSpPr txBox="1"/>
          <p:nvPr/>
        </p:nvSpPr>
        <p:spPr>
          <a:xfrm>
            <a:off x="1292783" y="2979911"/>
            <a:ext cx="3273096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hotword - DLS</a:t>
            </a:r>
          </a:p>
        </p:txBody>
      </p:sp>
      <p:sp>
        <p:nvSpPr>
          <p:cNvPr id="1079" name="словарь = {a, b, c, d, l,  s}"/>
          <p:cNvSpPr txBox="1"/>
          <p:nvPr/>
        </p:nvSpPr>
        <p:spPr>
          <a:xfrm>
            <a:off x="1278469" y="4219512"/>
            <a:ext cx="5481829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словарь = {a, b, c, d, l,  s}</a:t>
            </a:r>
          </a:p>
        </p:txBody>
      </p:sp>
      <p:sp>
        <p:nvSpPr>
          <p:cNvPr id="1080" name="N-beams = 3"/>
          <p:cNvSpPr txBox="1"/>
          <p:nvPr/>
        </p:nvSpPr>
        <p:spPr>
          <a:xfrm>
            <a:off x="1278469" y="5446874"/>
            <a:ext cx="2785720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N-beams = 3</a:t>
            </a:r>
          </a:p>
        </p:txBody>
      </p:sp>
      <p:sp>
        <p:nvSpPr>
          <p:cNvPr id="1081" name="гипотеза 1: a…"/>
          <p:cNvSpPr txBox="1"/>
          <p:nvPr/>
        </p:nvSpPr>
        <p:spPr>
          <a:xfrm>
            <a:off x="1210575" y="6888261"/>
            <a:ext cx="2921509" cy="2819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1: a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2: b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3: c</a:t>
            </a:r>
          </a:p>
        </p:txBody>
      </p:sp>
      <p:sp>
        <p:nvSpPr>
          <p:cNvPr id="1082" name="score 1: s1_1…"/>
          <p:cNvSpPr txBox="1"/>
          <p:nvPr/>
        </p:nvSpPr>
        <p:spPr>
          <a:xfrm>
            <a:off x="10476021" y="6888261"/>
            <a:ext cx="2841499" cy="2819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score 1: s1_1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score 2: s2_1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score 3: s3_1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RNN-Transducer"/>
          <p:cNvSpPr txBox="1"/>
          <p:nvPr>
            <p:ph type="title"/>
          </p:nvPr>
        </p:nvSpPr>
        <p:spPr>
          <a:xfrm>
            <a:off x="1206500" y="952500"/>
            <a:ext cx="1272739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Keywords / Hotwords</a:t>
            </a:r>
          </a:p>
        </p:txBody>
      </p:sp>
      <p:sp>
        <p:nvSpPr>
          <p:cNvPr id="1085" name="hotword - DLS"/>
          <p:cNvSpPr txBox="1"/>
          <p:nvPr/>
        </p:nvSpPr>
        <p:spPr>
          <a:xfrm>
            <a:off x="1292783" y="2979911"/>
            <a:ext cx="3273096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hotword - DLS</a:t>
            </a:r>
          </a:p>
        </p:txBody>
      </p:sp>
      <p:sp>
        <p:nvSpPr>
          <p:cNvPr id="1086" name="словарь = {a, b, c, d, l,  s}"/>
          <p:cNvSpPr txBox="1"/>
          <p:nvPr/>
        </p:nvSpPr>
        <p:spPr>
          <a:xfrm>
            <a:off x="1278469" y="4219512"/>
            <a:ext cx="5481829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словарь = {a, b, c, d, l,  s}</a:t>
            </a:r>
          </a:p>
        </p:txBody>
      </p:sp>
      <p:sp>
        <p:nvSpPr>
          <p:cNvPr id="1087" name="N-beams = 3"/>
          <p:cNvSpPr txBox="1"/>
          <p:nvPr/>
        </p:nvSpPr>
        <p:spPr>
          <a:xfrm>
            <a:off x="1278469" y="5446874"/>
            <a:ext cx="2785720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N-beams = 3</a:t>
            </a:r>
          </a:p>
        </p:txBody>
      </p:sp>
      <p:sp>
        <p:nvSpPr>
          <p:cNvPr id="1088" name="гипотеза 1: ab…"/>
          <p:cNvSpPr txBox="1"/>
          <p:nvPr/>
        </p:nvSpPr>
        <p:spPr>
          <a:xfrm>
            <a:off x="1210575" y="6888261"/>
            <a:ext cx="3167025" cy="2819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1: ab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2: bc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3: ca</a:t>
            </a:r>
          </a:p>
        </p:txBody>
      </p:sp>
      <p:sp>
        <p:nvSpPr>
          <p:cNvPr id="1089" name="score 1: s1_2…"/>
          <p:cNvSpPr txBox="1"/>
          <p:nvPr/>
        </p:nvSpPr>
        <p:spPr>
          <a:xfrm>
            <a:off x="10476021" y="6888261"/>
            <a:ext cx="2841499" cy="2819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score 1: s1_2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score 2: s2_2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score 3: s3_2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RNN-Transducer"/>
          <p:cNvSpPr txBox="1"/>
          <p:nvPr>
            <p:ph type="title"/>
          </p:nvPr>
        </p:nvSpPr>
        <p:spPr>
          <a:xfrm>
            <a:off x="1206500" y="952500"/>
            <a:ext cx="1272739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Keywords / Hotwords</a:t>
            </a:r>
          </a:p>
        </p:txBody>
      </p:sp>
      <p:sp>
        <p:nvSpPr>
          <p:cNvPr id="1092" name="hotword - DLS"/>
          <p:cNvSpPr txBox="1"/>
          <p:nvPr/>
        </p:nvSpPr>
        <p:spPr>
          <a:xfrm>
            <a:off x="1292783" y="2979911"/>
            <a:ext cx="3273096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hotword - DLS</a:t>
            </a:r>
          </a:p>
        </p:txBody>
      </p:sp>
      <p:sp>
        <p:nvSpPr>
          <p:cNvPr id="1093" name="словарь = {a, b, c, d, l,  s}"/>
          <p:cNvSpPr txBox="1"/>
          <p:nvPr/>
        </p:nvSpPr>
        <p:spPr>
          <a:xfrm>
            <a:off x="1278469" y="4219512"/>
            <a:ext cx="5481829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словарь = {a, b, c, d, l,  s}</a:t>
            </a:r>
          </a:p>
        </p:txBody>
      </p:sp>
      <p:sp>
        <p:nvSpPr>
          <p:cNvPr id="1094" name="N-beams = 3"/>
          <p:cNvSpPr txBox="1"/>
          <p:nvPr/>
        </p:nvSpPr>
        <p:spPr>
          <a:xfrm>
            <a:off x="1278469" y="5446874"/>
            <a:ext cx="2785720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N-beams = 3</a:t>
            </a:r>
          </a:p>
        </p:txBody>
      </p:sp>
      <p:sp>
        <p:nvSpPr>
          <p:cNvPr id="1095" name="гипотеза 1: ab_…"/>
          <p:cNvSpPr txBox="1"/>
          <p:nvPr/>
        </p:nvSpPr>
        <p:spPr>
          <a:xfrm>
            <a:off x="1210575" y="6888261"/>
            <a:ext cx="3395625" cy="2819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1: ab_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2: bc_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3: ca_</a:t>
            </a:r>
          </a:p>
        </p:txBody>
      </p:sp>
      <p:sp>
        <p:nvSpPr>
          <p:cNvPr id="1096" name="score 1: s1_3…"/>
          <p:cNvSpPr txBox="1"/>
          <p:nvPr/>
        </p:nvSpPr>
        <p:spPr>
          <a:xfrm>
            <a:off x="10476021" y="6888261"/>
            <a:ext cx="2841499" cy="2819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score 1: s1_3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score 2: s2_3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score 3: s3_3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RNN-Transducer"/>
          <p:cNvSpPr txBox="1"/>
          <p:nvPr>
            <p:ph type="title"/>
          </p:nvPr>
        </p:nvSpPr>
        <p:spPr>
          <a:xfrm>
            <a:off x="1206500" y="952500"/>
            <a:ext cx="1272739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Keywords / Hotwords</a:t>
            </a:r>
          </a:p>
        </p:txBody>
      </p:sp>
      <p:sp>
        <p:nvSpPr>
          <p:cNvPr id="1099" name="hotword - DLS"/>
          <p:cNvSpPr txBox="1"/>
          <p:nvPr/>
        </p:nvSpPr>
        <p:spPr>
          <a:xfrm>
            <a:off x="1292783" y="2979911"/>
            <a:ext cx="3273096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hotword - DLS</a:t>
            </a:r>
          </a:p>
        </p:txBody>
      </p:sp>
      <p:sp>
        <p:nvSpPr>
          <p:cNvPr id="1100" name="словарь = {a, b, c, d, l,  s}"/>
          <p:cNvSpPr txBox="1"/>
          <p:nvPr/>
        </p:nvSpPr>
        <p:spPr>
          <a:xfrm>
            <a:off x="1278469" y="4219512"/>
            <a:ext cx="5481829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словарь = {a, b, c, d, l,  s}</a:t>
            </a:r>
          </a:p>
        </p:txBody>
      </p:sp>
      <p:sp>
        <p:nvSpPr>
          <p:cNvPr id="1101" name="N-beams = 3"/>
          <p:cNvSpPr txBox="1"/>
          <p:nvPr/>
        </p:nvSpPr>
        <p:spPr>
          <a:xfrm>
            <a:off x="1278469" y="5446874"/>
            <a:ext cx="2785720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N-beams = 3</a:t>
            </a:r>
          </a:p>
        </p:txBody>
      </p:sp>
      <p:sp>
        <p:nvSpPr>
          <p:cNvPr id="1102" name="гипотеза 1: ab_d…"/>
          <p:cNvSpPr txBox="1"/>
          <p:nvPr/>
        </p:nvSpPr>
        <p:spPr>
          <a:xfrm>
            <a:off x="1210575" y="6888261"/>
            <a:ext cx="3666745" cy="2819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1: ab_d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2: bc_d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3: ca_d</a:t>
            </a:r>
          </a:p>
        </p:txBody>
      </p:sp>
      <p:sp>
        <p:nvSpPr>
          <p:cNvPr id="1103" name="score 1: s1_4 + boost_score * 1…"/>
          <p:cNvSpPr txBox="1"/>
          <p:nvPr/>
        </p:nvSpPr>
        <p:spPr>
          <a:xfrm>
            <a:off x="10476021" y="6888261"/>
            <a:ext cx="6562650" cy="2819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score 1: s1_4 + boost_score * 1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score 2: s2_4 + boost_score * 1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score 3: s3_4 + boost_score *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RNN-Transducer"/>
          <p:cNvSpPr txBox="1"/>
          <p:nvPr>
            <p:ph type="title"/>
          </p:nvPr>
        </p:nvSpPr>
        <p:spPr>
          <a:xfrm>
            <a:off x="1206500" y="952500"/>
            <a:ext cx="1272739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Keywords / Hotwords</a:t>
            </a:r>
          </a:p>
        </p:txBody>
      </p:sp>
      <p:sp>
        <p:nvSpPr>
          <p:cNvPr id="1106" name="hotword - DLS"/>
          <p:cNvSpPr txBox="1"/>
          <p:nvPr/>
        </p:nvSpPr>
        <p:spPr>
          <a:xfrm>
            <a:off x="1292783" y="2979911"/>
            <a:ext cx="3273096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hotword - DLS</a:t>
            </a:r>
          </a:p>
        </p:txBody>
      </p:sp>
      <p:sp>
        <p:nvSpPr>
          <p:cNvPr id="1107" name="словарь = {a, b, c, d, l,  s}"/>
          <p:cNvSpPr txBox="1"/>
          <p:nvPr/>
        </p:nvSpPr>
        <p:spPr>
          <a:xfrm>
            <a:off x="1278469" y="4219512"/>
            <a:ext cx="5481829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словарь = {a, b, c, d, l,  s}</a:t>
            </a:r>
          </a:p>
        </p:txBody>
      </p:sp>
      <p:sp>
        <p:nvSpPr>
          <p:cNvPr id="1108" name="N-beams = 3"/>
          <p:cNvSpPr txBox="1"/>
          <p:nvPr/>
        </p:nvSpPr>
        <p:spPr>
          <a:xfrm>
            <a:off x="1278469" y="5446874"/>
            <a:ext cx="2785720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N-beams = 3</a:t>
            </a:r>
          </a:p>
        </p:txBody>
      </p:sp>
      <p:sp>
        <p:nvSpPr>
          <p:cNvPr id="1109" name="гипотеза 1: ab_dl…"/>
          <p:cNvSpPr txBox="1"/>
          <p:nvPr/>
        </p:nvSpPr>
        <p:spPr>
          <a:xfrm>
            <a:off x="1210575" y="6888261"/>
            <a:ext cx="3768243" cy="2819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1: ab_dl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2: bc_dl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3: ca_dl</a:t>
            </a:r>
          </a:p>
        </p:txBody>
      </p:sp>
      <p:sp>
        <p:nvSpPr>
          <p:cNvPr id="1110" name="score 1: s1_5 + boost_score * 2…"/>
          <p:cNvSpPr txBox="1"/>
          <p:nvPr/>
        </p:nvSpPr>
        <p:spPr>
          <a:xfrm>
            <a:off x="10476021" y="6888261"/>
            <a:ext cx="6562650" cy="2819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score 1: s1_5 + boost_score * 2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score 2: s2_5 + boost_score * 2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score 3: s3_5 + boost_score *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RNN-Transducer"/>
          <p:cNvSpPr txBox="1"/>
          <p:nvPr>
            <p:ph type="title"/>
          </p:nvPr>
        </p:nvSpPr>
        <p:spPr>
          <a:xfrm>
            <a:off x="1206500" y="952500"/>
            <a:ext cx="1272739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Keywords / Hotwords</a:t>
            </a:r>
          </a:p>
        </p:txBody>
      </p:sp>
      <p:sp>
        <p:nvSpPr>
          <p:cNvPr id="1113" name="hotword - DLS"/>
          <p:cNvSpPr txBox="1"/>
          <p:nvPr/>
        </p:nvSpPr>
        <p:spPr>
          <a:xfrm>
            <a:off x="1292783" y="2979911"/>
            <a:ext cx="3273096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hotword - DLS</a:t>
            </a:r>
          </a:p>
        </p:txBody>
      </p:sp>
      <p:sp>
        <p:nvSpPr>
          <p:cNvPr id="1114" name="словарь = {a, b, c, d, l,  s}"/>
          <p:cNvSpPr txBox="1"/>
          <p:nvPr/>
        </p:nvSpPr>
        <p:spPr>
          <a:xfrm>
            <a:off x="1278469" y="4219512"/>
            <a:ext cx="5481829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словарь = {a, b, c, d, l,  s}</a:t>
            </a:r>
          </a:p>
        </p:txBody>
      </p:sp>
      <p:sp>
        <p:nvSpPr>
          <p:cNvPr id="1115" name="N-beams = 3"/>
          <p:cNvSpPr txBox="1"/>
          <p:nvPr/>
        </p:nvSpPr>
        <p:spPr>
          <a:xfrm>
            <a:off x="1278469" y="5446874"/>
            <a:ext cx="2785720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N-beams = 3</a:t>
            </a:r>
          </a:p>
        </p:txBody>
      </p:sp>
      <p:sp>
        <p:nvSpPr>
          <p:cNvPr id="1116" name="гипотеза 1: ab_dls…"/>
          <p:cNvSpPr txBox="1"/>
          <p:nvPr/>
        </p:nvSpPr>
        <p:spPr>
          <a:xfrm>
            <a:off x="1210575" y="6888261"/>
            <a:ext cx="3996843" cy="2819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1: ab_dls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2: bc_dls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3: ca_dla</a:t>
            </a:r>
          </a:p>
        </p:txBody>
      </p:sp>
      <p:sp>
        <p:nvSpPr>
          <p:cNvPr id="1117" name="score 1: s1_6 + boost_score * 3…"/>
          <p:cNvSpPr txBox="1"/>
          <p:nvPr/>
        </p:nvSpPr>
        <p:spPr>
          <a:xfrm>
            <a:off x="10476021" y="6888261"/>
            <a:ext cx="6562650" cy="2819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score 1: s1_6 + boost_score * 3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score 2: s2_6 + boost_score * 3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score 3: s3_6 + 0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RNN-Transducer"/>
          <p:cNvSpPr txBox="1"/>
          <p:nvPr>
            <p:ph type="title"/>
          </p:nvPr>
        </p:nvSpPr>
        <p:spPr>
          <a:xfrm>
            <a:off x="1206500" y="952500"/>
            <a:ext cx="12727397" cy="143495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Keywords / Hotwords</a:t>
            </a:r>
          </a:p>
        </p:txBody>
      </p:sp>
      <p:sp>
        <p:nvSpPr>
          <p:cNvPr id="1120" name="hotword - DLS"/>
          <p:cNvSpPr txBox="1"/>
          <p:nvPr/>
        </p:nvSpPr>
        <p:spPr>
          <a:xfrm>
            <a:off x="1292783" y="2979911"/>
            <a:ext cx="3273096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hotword - DLS</a:t>
            </a:r>
          </a:p>
        </p:txBody>
      </p:sp>
      <p:sp>
        <p:nvSpPr>
          <p:cNvPr id="1121" name="словарь = {a, b, c, d, l,  s}"/>
          <p:cNvSpPr txBox="1"/>
          <p:nvPr/>
        </p:nvSpPr>
        <p:spPr>
          <a:xfrm>
            <a:off x="1278469" y="4219512"/>
            <a:ext cx="5481829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словарь = {a, b, c, d, l,  s}</a:t>
            </a:r>
          </a:p>
        </p:txBody>
      </p:sp>
      <p:sp>
        <p:nvSpPr>
          <p:cNvPr id="1122" name="N-beams = 3"/>
          <p:cNvSpPr txBox="1"/>
          <p:nvPr/>
        </p:nvSpPr>
        <p:spPr>
          <a:xfrm>
            <a:off x="1278469" y="5446874"/>
            <a:ext cx="2785720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N-beams = 3</a:t>
            </a:r>
          </a:p>
        </p:txBody>
      </p:sp>
      <p:sp>
        <p:nvSpPr>
          <p:cNvPr id="1123" name="гипотеза 1: ab_dls_…"/>
          <p:cNvSpPr txBox="1"/>
          <p:nvPr/>
        </p:nvSpPr>
        <p:spPr>
          <a:xfrm>
            <a:off x="1210575" y="6888261"/>
            <a:ext cx="4225443" cy="2819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1: ab_dls_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2: bc_dlss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гипотеза 3: ca_dlas</a:t>
            </a:r>
          </a:p>
        </p:txBody>
      </p:sp>
      <p:sp>
        <p:nvSpPr>
          <p:cNvPr id="1124" name="score 1: s1_7 + boost_score * 3…"/>
          <p:cNvSpPr txBox="1"/>
          <p:nvPr/>
        </p:nvSpPr>
        <p:spPr>
          <a:xfrm>
            <a:off x="10476021" y="6888261"/>
            <a:ext cx="6562650" cy="2819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score 1: s1_7 + boost_score * 3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score 2: s2_7 + boost_score * 3</a:t>
            </a:r>
          </a:p>
          <a:p>
            <a:pPr algn="l">
              <a:defRPr sz="3600">
                <a:solidFill>
                  <a:srgbClr val="000000"/>
                </a:solidFill>
              </a:defRPr>
            </a:pPr>
          </a:p>
          <a:p>
            <a:pPr algn="l">
              <a:defRPr sz="3600">
                <a:solidFill>
                  <a:srgbClr val="000000"/>
                </a:solidFill>
              </a:defRPr>
            </a:pPr>
            <a:r>
              <a:t>score 3: s3_7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Финальная схема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Финальная схема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Полный пайплайн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Полный пайплайн</a:t>
            </a:r>
          </a:p>
        </p:txBody>
      </p:sp>
      <p:sp>
        <p:nvSpPr>
          <p:cNvPr id="1131" name="Mel features"/>
          <p:cNvSpPr/>
          <p:nvPr/>
        </p:nvSpPr>
        <p:spPr>
          <a:xfrm>
            <a:off x="1722830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Mel features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Полный пайплайн</a:t>
            </a:r>
          </a:p>
        </p:txBody>
      </p:sp>
      <p:sp>
        <p:nvSpPr>
          <p:cNvPr id="1134" name="Mel features"/>
          <p:cNvSpPr/>
          <p:nvPr/>
        </p:nvSpPr>
        <p:spPr>
          <a:xfrm>
            <a:off x="1722830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Mel features</a:t>
            </a:r>
          </a:p>
        </p:txBody>
      </p:sp>
      <p:sp>
        <p:nvSpPr>
          <p:cNvPr id="1135" name="Line"/>
          <p:cNvSpPr/>
          <p:nvPr/>
        </p:nvSpPr>
        <p:spPr>
          <a:xfrm flipV="1">
            <a:off x="5016685" y="6857999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36" name="Encoder"/>
          <p:cNvSpPr/>
          <p:nvPr/>
        </p:nvSpPr>
        <p:spPr>
          <a:xfrm>
            <a:off x="6417017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Encoder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Полный пайплайн</a:t>
            </a:r>
          </a:p>
        </p:txBody>
      </p:sp>
      <p:sp>
        <p:nvSpPr>
          <p:cNvPr id="1139" name="Mel features"/>
          <p:cNvSpPr/>
          <p:nvPr/>
        </p:nvSpPr>
        <p:spPr>
          <a:xfrm>
            <a:off x="1722830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Mel features</a:t>
            </a:r>
          </a:p>
        </p:txBody>
      </p:sp>
      <p:sp>
        <p:nvSpPr>
          <p:cNvPr id="1140" name="Line"/>
          <p:cNvSpPr/>
          <p:nvPr/>
        </p:nvSpPr>
        <p:spPr>
          <a:xfrm flipV="1">
            <a:off x="5016685" y="6857999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41" name="Encoder"/>
          <p:cNvSpPr/>
          <p:nvPr/>
        </p:nvSpPr>
        <p:spPr>
          <a:xfrm>
            <a:off x="6417017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Encoder</a:t>
            </a:r>
          </a:p>
        </p:txBody>
      </p:sp>
      <p:sp>
        <p:nvSpPr>
          <p:cNvPr id="1142" name="Line"/>
          <p:cNvSpPr/>
          <p:nvPr/>
        </p:nvSpPr>
        <p:spPr>
          <a:xfrm flipV="1">
            <a:off x="9710871" y="6857999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43" name="Decoder"/>
          <p:cNvSpPr/>
          <p:nvPr/>
        </p:nvSpPr>
        <p:spPr>
          <a:xfrm>
            <a:off x="11111203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Decoder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Полный пайплайн</a:t>
            </a:r>
          </a:p>
        </p:txBody>
      </p:sp>
      <p:sp>
        <p:nvSpPr>
          <p:cNvPr id="1146" name="Mel features"/>
          <p:cNvSpPr/>
          <p:nvPr/>
        </p:nvSpPr>
        <p:spPr>
          <a:xfrm>
            <a:off x="1722830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Mel features</a:t>
            </a:r>
          </a:p>
        </p:txBody>
      </p:sp>
      <p:sp>
        <p:nvSpPr>
          <p:cNvPr id="1147" name="Line"/>
          <p:cNvSpPr/>
          <p:nvPr/>
        </p:nvSpPr>
        <p:spPr>
          <a:xfrm flipV="1">
            <a:off x="5016685" y="6857999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48" name="Encoder"/>
          <p:cNvSpPr/>
          <p:nvPr/>
        </p:nvSpPr>
        <p:spPr>
          <a:xfrm>
            <a:off x="6417017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Encoder</a:t>
            </a:r>
          </a:p>
        </p:txBody>
      </p:sp>
      <p:sp>
        <p:nvSpPr>
          <p:cNvPr id="1149" name="Line"/>
          <p:cNvSpPr/>
          <p:nvPr/>
        </p:nvSpPr>
        <p:spPr>
          <a:xfrm flipV="1">
            <a:off x="9710871" y="6857999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50" name="Decoder + Beam search"/>
          <p:cNvSpPr/>
          <p:nvPr/>
        </p:nvSpPr>
        <p:spPr>
          <a:xfrm>
            <a:off x="11111203" y="5616093"/>
            <a:ext cx="3163523" cy="2483814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Decoder</a:t>
            </a:r>
            <a:br/>
            <a:r>
              <a:t>+</a:t>
            </a:r>
            <a:br/>
            <a:r>
              <a:t>Beam search</a:t>
            </a:r>
          </a:p>
        </p:txBody>
      </p:sp>
      <p:sp>
        <p:nvSpPr>
          <p:cNvPr id="1151" name="Line"/>
          <p:cNvSpPr/>
          <p:nvPr/>
        </p:nvSpPr>
        <p:spPr>
          <a:xfrm flipV="1">
            <a:off x="14405057" y="6857999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52" name="N hypothesis"/>
          <p:cNvSpPr/>
          <p:nvPr/>
        </p:nvSpPr>
        <p:spPr>
          <a:xfrm>
            <a:off x="15805390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 hypothesis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Полный пайплайн</a:t>
            </a:r>
          </a:p>
        </p:txBody>
      </p:sp>
      <p:sp>
        <p:nvSpPr>
          <p:cNvPr id="1155" name="Mel features"/>
          <p:cNvSpPr/>
          <p:nvPr/>
        </p:nvSpPr>
        <p:spPr>
          <a:xfrm>
            <a:off x="1722830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Mel features</a:t>
            </a:r>
          </a:p>
        </p:txBody>
      </p:sp>
      <p:sp>
        <p:nvSpPr>
          <p:cNvPr id="1156" name="Line"/>
          <p:cNvSpPr/>
          <p:nvPr/>
        </p:nvSpPr>
        <p:spPr>
          <a:xfrm flipV="1">
            <a:off x="5016685" y="6857999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57" name="Encoder"/>
          <p:cNvSpPr/>
          <p:nvPr/>
        </p:nvSpPr>
        <p:spPr>
          <a:xfrm>
            <a:off x="6417017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Encoder</a:t>
            </a:r>
          </a:p>
        </p:txBody>
      </p:sp>
      <p:sp>
        <p:nvSpPr>
          <p:cNvPr id="1158" name="Line"/>
          <p:cNvSpPr/>
          <p:nvPr/>
        </p:nvSpPr>
        <p:spPr>
          <a:xfrm flipV="1">
            <a:off x="9710871" y="6857999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59" name="Line"/>
          <p:cNvSpPr/>
          <p:nvPr/>
        </p:nvSpPr>
        <p:spPr>
          <a:xfrm flipV="1">
            <a:off x="14405057" y="6857999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60" name="N hypothesis"/>
          <p:cNvSpPr/>
          <p:nvPr/>
        </p:nvSpPr>
        <p:spPr>
          <a:xfrm>
            <a:off x="15805390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 hypothesis</a:t>
            </a:r>
          </a:p>
        </p:txBody>
      </p:sp>
      <p:sp>
        <p:nvSpPr>
          <p:cNvPr id="1161" name="Decoder + Beam search"/>
          <p:cNvSpPr/>
          <p:nvPr/>
        </p:nvSpPr>
        <p:spPr>
          <a:xfrm>
            <a:off x="11111203" y="5583186"/>
            <a:ext cx="3163523" cy="3280248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Decoder</a:t>
            </a:r>
            <a:br/>
            <a:r>
              <a:t>+</a:t>
            </a:r>
            <a:br/>
            <a:r>
              <a:t>Beam search</a:t>
            </a:r>
          </a:p>
        </p:txBody>
      </p:sp>
      <p:sp>
        <p:nvSpPr>
          <p:cNvPr id="1162" name="N-Gram/RNN LM"/>
          <p:cNvSpPr/>
          <p:nvPr/>
        </p:nvSpPr>
        <p:spPr>
          <a:xfrm>
            <a:off x="11274304" y="7374608"/>
            <a:ext cx="2837322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N-Gram/RNN LM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Полный пайплайн</a:t>
            </a:r>
          </a:p>
        </p:txBody>
      </p:sp>
      <p:sp>
        <p:nvSpPr>
          <p:cNvPr id="1165" name="Mel features"/>
          <p:cNvSpPr/>
          <p:nvPr/>
        </p:nvSpPr>
        <p:spPr>
          <a:xfrm>
            <a:off x="1722830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Mel features</a:t>
            </a:r>
          </a:p>
        </p:txBody>
      </p:sp>
      <p:sp>
        <p:nvSpPr>
          <p:cNvPr id="1166" name="Line"/>
          <p:cNvSpPr/>
          <p:nvPr/>
        </p:nvSpPr>
        <p:spPr>
          <a:xfrm flipV="1">
            <a:off x="5016685" y="6857999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67" name="Encoder"/>
          <p:cNvSpPr/>
          <p:nvPr/>
        </p:nvSpPr>
        <p:spPr>
          <a:xfrm>
            <a:off x="6417017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Encoder</a:t>
            </a:r>
          </a:p>
        </p:txBody>
      </p:sp>
      <p:sp>
        <p:nvSpPr>
          <p:cNvPr id="1168" name="Decoder + Beam search"/>
          <p:cNvSpPr/>
          <p:nvPr/>
        </p:nvSpPr>
        <p:spPr>
          <a:xfrm>
            <a:off x="11111203" y="5583186"/>
            <a:ext cx="3163523" cy="4852845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Decoder</a:t>
            </a:r>
            <a:br/>
            <a:r>
              <a:t>+</a:t>
            </a:r>
            <a:br/>
            <a:r>
              <a:t>Beam search</a:t>
            </a:r>
          </a:p>
        </p:txBody>
      </p:sp>
      <p:sp>
        <p:nvSpPr>
          <p:cNvPr id="1169" name="Line"/>
          <p:cNvSpPr/>
          <p:nvPr/>
        </p:nvSpPr>
        <p:spPr>
          <a:xfrm flipV="1">
            <a:off x="9710871" y="6857999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70" name="N-Gram/RNN LM"/>
          <p:cNvSpPr/>
          <p:nvPr/>
        </p:nvSpPr>
        <p:spPr>
          <a:xfrm>
            <a:off x="11274304" y="7374608"/>
            <a:ext cx="2837322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N-Gram/RNN LM</a:t>
            </a:r>
          </a:p>
        </p:txBody>
      </p:sp>
      <p:sp>
        <p:nvSpPr>
          <p:cNvPr id="1171" name="Hotwords (Optional)"/>
          <p:cNvSpPr/>
          <p:nvPr/>
        </p:nvSpPr>
        <p:spPr>
          <a:xfrm>
            <a:off x="11274304" y="8917769"/>
            <a:ext cx="2837322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Hotwords</a:t>
            </a:r>
            <a:br/>
            <a:r>
              <a:t>(Optional)</a:t>
            </a:r>
          </a:p>
        </p:txBody>
      </p:sp>
      <p:sp>
        <p:nvSpPr>
          <p:cNvPr id="1172" name="Line"/>
          <p:cNvSpPr/>
          <p:nvPr/>
        </p:nvSpPr>
        <p:spPr>
          <a:xfrm flipV="1">
            <a:off x="14405057" y="6857999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73" name="N hypothesis"/>
          <p:cNvSpPr/>
          <p:nvPr/>
        </p:nvSpPr>
        <p:spPr>
          <a:xfrm>
            <a:off x="15805390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 hypothesis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Полный пайплайн</a:t>
            </a:r>
          </a:p>
        </p:txBody>
      </p:sp>
      <p:sp>
        <p:nvSpPr>
          <p:cNvPr id="1176" name="Mel features"/>
          <p:cNvSpPr/>
          <p:nvPr/>
        </p:nvSpPr>
        <p:spPr>
          <a:xfrm>
            <a:off x="1722830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Mel features</a:t>
            </a:r>
          </a:p>
        </p:txBody>
      </p:sp>
      <p:sp>
        <p:nvSpPr>
          <p:cNvPr id="1177" name="Line"/>
          <p:cNvSpPr/>
          <p:nvPr/>
        </p:nvSpPr>
        <p:spPr>
          <a:xfrm flipV="1">
            <a:off x="5016685" y="6857999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78" name="Encoder"/>
          <p:cNvSpPr/>
          <p:nvPr/>
        </p:nvSpPr>
        <p:spPr>
          <a:xfrm>
            <a:off x="6417017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Encoder</a:t>
            </a:r>
          </a:p>
        </p:txBody>
      </p:sp>
      <p:sp>
        <p:nvSpPr>
          <p:cNvPr id="1179" name="Decoder + Beam search"/>
          <p:cNvSpPr/>
          <p:nvPr/>
        </p:nvSpPr>
        <p:spPr>
          <a:xfrm>
            <a:off x="11111203" y="5583186"/>
            <a:ext cx="3163523" cy="4852845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Decoder</a:t>
            </a:r>
            <a:br/>
            <a:r>
              <a:t>+</a:t>
            </a:r>
            <a:br/>
            <a:r>
              <a:t>Beam search</a:t>
            </a:r>
          </a:p>
        </p:txBody>
      </p:sp>
      <p:sp>
        <p:nvSpPr>
          <p:cNvPr id="1180" name="Line"/>
          <p:cNvSpPr/>
          <p:nvPr/>
        </p:nvSpPr>
        <p:spPr>
          <a:xfrm flipV="1">
            <a:off x="9710871" y="6857999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81" name="N-Gram/RNN LM"/>
          <p:cNvSpPr/>
          <p:nvPr/>
        </p:nvSpPr>
        <p:spPr>
          <a:xfrm>
            <a:off x="11274304" y="7374608"/>
            <a:ext cx="2837322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N-Gram/RNN LM</a:t>
            </a:r>
          </a:p>
        </p:txBody>
      </p:sp>
      <p:sp>
        <p:nvSpPr>
          <p:cNvPr id="1182" name="Hotwords (Optional)"/>
          <p:cNvSpPr/>
          <p:nvPr/>
        </p:nvSpPr>
        <p:spPr>
          <a:xfrm>
            <a:off x="11274304" y="8917769"/>
            <a:ext cx="2837322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Hotwords</a:t>
            </a:r>
            <a:br/>
            <a:r>
              <a:t>(Optional)</a:t>
            </a:r>
          </a:p>
        </p:txBody>
      </p:sp>
      <p:sp>
        <p:nvSpPr>
          <p:cNvPr id="1183" name="Line"/>
          <p:cNvSpPr/>
          <p:nvPr/>
        </p:nvSpPr>
        <p:spPr>
          <a:xfrm flipV="1">
            <a:off x="14405057" y="6857999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84" name="N hypothesis"/>
          <p:cNvSpPr/>
          <p:nvPr/>
        </p:nvSpPr>
        <p:spPr>
          <a:xfrm>
            <a:off x="15805390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 hypothesis</a:t>
            </a:r>
          </a:p>
        </p:txBody>
      </p:sp>
      <p:sp>
        <p:nvSpPr>
          <p:cNvPr id="1185" name="Line"/>
          <p:cNvSpPr/>
          <p:nvPr/>
        </p:nvSpPr>
        <p:spPr>
          <a:xfrm>
            <a:off x="17387151" y="7638143"/>
            <a:ext cx="1" cy="127000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86" name="Rescoring LM"/>
          <p:cNvSpPr/>
          <p:nvPr/>
        </p:nvSpPr>
        <p:spPr>
          <a:xfrm>
            <a:off x="15805390" y="9053286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Rescoring LM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RNN-Transdu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Полный пайплайн</a:t>
            </a:r>
          </a:p>
        </p:txBody>
      </p:sp>
      <p:sp>
        <p:nvSpPr>
          <p:cNvPr id="1189" name="Mel features"/>
          <p:cNvSpPr/>
          <p:nvPr/>
        </p:nvSpPr>
        <p:spPr>
          <a:xfrm>
            <a:off x="1722830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Mel features</a:t>
            </a:r>
          </a:p>
        </p:txBody>
      </p:sp>
      <p:sp>
        <p:nvSpPr>
          <p:cNvPr id="1190" name="Line"/>
          <p:cNvSpPr/>
          <p:nvPr/>
        </p:nvSpPr>
        <p:spPr>
          <a:xfrm flipV="1">
            <a:off x="5016685" y="6857999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91" name="Encoder"/>
          <p:cNvSpPr/>
          <p:nvPr/>
        </p:nvSpPr>
        <p:spPr>
          <a:xfrm>
            <a:off x="6417017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Encoder</a:t>
            </a:r>
          </a:p>
        </p:txBody>
      </p:sp>
      <p:sp>
        <p:nvSpPr>
          <p:cNvPr id="1192" name="Decoder + Beam search"/>
          <p:cNvSpPr/>
          <p:nvPr/>
        </p:nvSpPr>
        <p:spPr>
          <a:xfrm>
            <a:off x="11111203" y="5583186"/>
            <a:ext cx="3163523" cy="4852845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Decoder</a:t>
            </a:r>
            <a:br/>
            <a:r>
              <a:t>+</a:t>
            </a:r>
            <a:br/>
            <a:r>
              <a:t>Beam search</a:t>
            </a:r>
          </a:p>
        </p:txBody>
      </p:sp>
      <p:sp>
        <p:nvSpPr>
          <p:cNvPr id="1193" name="Line"/>
          <p:cNvSpPr/>
          <p:nvPr/>
        </p:nvSpPr>
        <p:spPr>
          <a:xfrm flipV="1">
            <a:off x="9710871" y="6857999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94" name="N-Gram/RNN LM"/>
          <p:cNvSpPr/>
          <p:nvPr/>
        </p:nvSpPr>
        <p:spPr>
          <a:xfrm>
            <a:off x="11274304" y="7374608"/>
            <a:ext cx="2837322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N-Gram/RNN LM</a:t>
            </a:r>
          </a:p>
        </p:txBody>
      </p:sp>
      <p:sp>
        <p:nvSpPr>
          <p:cNvPr id="1195" name="Hotwords (Optional)"/>
          <p:cNvSpPr/>
          <p:nvPr/>
        </p:nvSpPr>
        <p:spPr>
          <a:xfrm>
            <a:off x="11274304" y="8917769"/>
            <a:ext cx="2837322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Hotwords</a:t>
            </a:r>
            <a:br/>
            <a:r>
              <a:t>(Optional)</a:t>
            </a:r>
          </a:p>
        </p:txBody>
      </p:sp>
      <p:sp>
        <p:nvSpPr>
          <p:cNvPr id="1196" name="Line"/>
          <p:cNvSpPr/>
          <p:nvPr/>
        </p:nvSpPr>
        <p:spPr>
          <a:xfrm flipV="1">
            <a:off x="14405057" y="6857999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97" name="N hypothesis"/>
          <p:cNvSpPr/>
          <p:nvPr/>
        </p:nvSpPr>
        <p:spPr>
          <a:xfrm>
            <a:off x="15805390" y="6223000"/>
            <a:ext cx="3163523" cy="127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 hypothesis</a:t>
            </a:r>
          </a:p>
        </p:txBody>
      </p:sp>
      <p:sp>
        <p:nvSpPr>
          <p:cNvPr id="1198" name="Line"/>
          <p:cNvSpPr/>
          <p:nvPr/>
        </p:nvSpPr>
        <p:spPr>
          <a:xfrm>
            <a:off x="17387151" y="7638143"/>
            <a:ext cx="1" cy="127000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99" name="Rescoring LM"/>
          <p:cNvSpPr/>
          <p:nvPr/>
        </p:nvSpPr>
        <p:spPr>
          <a:xfrm>
            <a:off x="15805390" y="9053286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Rescoring LM</a:t>
            </a:r>
          </a:p>
        </p:txBody>
      </p:sp>
      <p:sp>
        <p:nvSpPr>
          <p:cNvPr id="1200" name="Line"/>
          <p:cNvSpPr/>
          <p:nvPr/>
        </p:nvSpPr>
        <p:spPr>
          <a:xfrm flipV="1">
            <a:off x="19099243" y="9688286"/>
            <a:ext cx="1270001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201" name="Final text"/>
          <p:cNvSpPr/>
          <p:nvPr/>
        </p:nvSpPr>
        <p:spPr>
          <a:xfrm>
            <a:off x="20499576" y="9053286"/>
            <a:ext cx="3163523" cy="1270001"/>
          </a:xfrm>
          <a:prstGeom prst="rect">
            <a:avLst/>
          </a:prstGeom>
          <a:solidFill>
            <a:srgbClr val="FFFFFF"/>
          </a:solidFill>
          <a:ln w="762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Final text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5E5E5E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